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256" r:id="rId2"/>
    <p:sldId id="257" r:id="rId3"/>
    <p:sldId id="260" r:id="rId4"/>
    <p:sldId id="258" r:id="rId5"/>
    <p:sldId id="261" r:id="rId6"/>
    <p:sldId id="263" r:id="rId7"/>
    <p:sldId id="262" r:id="rId8"/>
    <p:sldId id="264" r:id="rId9"/>
    <p:sldId id="272" r:id="rId10"/>
    <p:sldId id="265" r:id="rId11"/>
    <p:sldId id="266" r:id="rId12"/>
    <p:sldId id="270" r:id="rId13"/>
    <p:sldId id="271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D3983-6984-707E-F2CA-B4A2DE48FF5F}" v="260" dt="2024-09-17T18:53:59.786"/>
    <p1510:client id="{3DD8B468-7D72-62FD-1FED-2C86CE14DD51}" v="46" dt="2024-09-18T05:07:56.010"/>
    <p1510:client id="{761EE182-410C-A013-ED4A-AAC37A89020A}" v="855" dt="2024-09-18T01:34:15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5FB96-1201-4527-AE50-0D2A231ACD4E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E9248F6-F31D-4BDC-80C2-11777EEFA6CB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Buffing Dust</a:t>
          </a:r>
          <a:endParaRPr lang="en-US" dirty="0"/>
        </a:p>
      </dgm:t>
    </dgm:pt>
    <dgm:pt modelId="{264A2D2A-B5CE-49CB-BFEA-C2A6BA861E04}" type="parTrans" cxnId="{69C91579-AC11-44D1-9626-6B3A8FABBD1D}">
      <dgm:prSet/>
      <dgm:spPr/>
      <dgm:t>
        <a:bodyPr/>
        <a:lstStyle/>
        <a:p>
          <a:endParaRPr lang="en-US"/>
        </a:p>
      </dgm:t>
    </dgm:pt>
    <dgm:pt modelId="{F8552A97-8D6C-4C4D-800C-2D413DF08CBF}" type="sibTrans" cxnId="{69C91579-AC11-44D1-9626-6B3A8FABBD1D}">
      <dgm:prSet/>
      <dgm:spPr/>
      <dgm:t>
        <a:bodyPr/>
        <a:lstStyle/>
        <a:p>
          <a:endParaRPr lang="en-US"/>
        </a:p>
      </dgm:t>
    </dgm:pt>
    <dgm:pt modelId="{B7B33843-0754-4FF3-B49B-8F11BC16D28D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Polystyrene</a:t>
          </a:r>
          <a:endParaRPr lang="en-US" dirty="0"/>
        </a:p>
      </dgm:t>
    </dgm:pt>
    <dgm:pt modelId="{87639E9E-B227-4F36-9545-13AF8890DC24}" type="parTrans" cxnId="{1D04856C-77B8-4E6A-A9BD-3AC561182BA6}">
      <dgm:prSet/>
      <dgm:spPr/>
      <dgm:t>
        <a:bodyPr/>
        <a:lstStyle/>
        <a:p>
          <a:endParaRPr lang="en-US"/>
        </a:p>
      </dgm:t>
    </dgm:pt>
    <dgm:pt modelId="{EF0D59F3-9CD2-4B15-85DE-5FA5B95FA578}" type="sibTrans" cxnId="{1D04856C-77B8-4E6A-A9BD-3AC561182BA6}">
      <dgm:prSet/>
      <dgm:spPr/>
      <dgm:t>
        <a:bodyPr/>
        <a:lstStyle/>
        <a:p>
          <a:endParaRPr lang="en-US"/>
        </a:p>
      </dgm:t>
    </dgm:pt>
    <dgm:pt modelId="{4A903140-6457-4F2B-95C5-A513F0544A32}">
      <dgm:prSet phldr="0"/>
      <dgm:spPr/>
      <dgm:t>
        <a:bodyPr/>
        <a:lstStyle/>
        <a:p>
          <a:pPr rtl="0"/>
          <a:r>
            <a:rPr lang="en-US" dirty="0">
              <a:latin typeface="Aharoni"/>
            </a:rPr>
            <a:t>Blowing Agent</a:t>
          </a:r>
        </a:p>
      </dgm:t>
    </dgm:pt>
    <dgm:pt modelId="{CD48956C-B9E3-41F9-BBB5-06EF48A56343}" type="parTrans" cxnId="{5831863A-B4F3-4507-A6E1-2C2042CDC2E2}">
      <dgm:prSet/>
      <dgm:spPr/>
    </dgm:pt>
    <dgm:pt modelId="{E7E49CDB-56EA-44BC-A2EE-2B22CE271F9C}" type="sibTrans" cxnId="{5831863A-B4F3-4507-A6E1-2C2042CDC2E2}">
      <dgm:prSet/>
      <dgm:spPr/>
      <dgm:t>
        <a:bodyPr/>
        <a:lstStyle/>
        <a:p>
          <a:endParaRPr lang="en-US"/>
        </a:p>
      </dgm:t>
    </dgm:pt>
    <dgm:pt modelId="{AF86DE14-4ABE-4338-9C67-29D8644C2D7A}" type="pres">
      <dgm:prSet presAssocID="{8D45FB96-1201-4527-AE50-0D2A231ACD4E}" presName="Name0" presStyleCnt="0">
        <dgm:presLayoutVars>
          <dgm:dir/>
          <dgm:animLvl val="lvl"/>
          <dgm:resizeHandles val="exact"/>
        </dgm:presLayoutVars>
      </dgm:prSet>
      <dgm:spPr/>
    </dgm:pt>
    <dgm:pt modelId="{F68274EC-EC32-4A49-B8CB-1E8A24E54650}" type="pres">
      <dgm:prSet presAssocID="{5E9248F6-F31D-4BDC-80C2-11777EEFA6CB}" presName="linNode" presStyleCnt="0"/>
      <dgm:spPr/>
    </dgm:pt>
    <dgm:pt modelId="{95A2E00E-9571-4B64-B04A-238412E3CF73}" type="pres">
      <dgm:prSet presAssocID="{5E9248F6-F31D-4BDC-80C2-11777EEFA6C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72BBDEB-5698-46C0-B9E6-37B598A092A0}" type="pres">
      <dgm:prSet presAssocID="{F8552A97-8D6C-4C4D-800C-2D413DF08CBF}" presName="sp" presStyleCnt="0"/>
      <dgm:spPr/>
    </dgm:pt>
    <dgm:pt modelId="{EAA1EBC6-0C46-4FE7-A59B-06FC4370D62E}" type="pres">
      <dgm:prSet presAssocID="{B7B33843-0754-4FF3-B49B-8F11BC16D28D}" presName="linNode" presStyleCnt="0"/>
      <dgm:spPr/>
    </dgm:pt>
    <dgm:pt modelId="{473807CB-2737-4FA0-B360-096A5EE62640}" type="pres">
      <dgm:prSet presAssocID="{B7B33843-0754-4FF3-B49B-8F11BC16D28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812E61B-F48C-40D2-9B4B-359AF7714E4C}" type="pres">
      <dgm:prSet presAssocID="{EF0D59F3-9CD2-4B15-85DE-5FA5B95FA578}" presName="sp" presStyleCnt="0"/>
      <dgm:spPr/>
    </dgm:pt>
    <dgm:pt modelId="{C74FE59D-54C1-4AF7-8252-C8A84BDDC2A4}" type="pres">
      <dgm:prSet presAssocID="{4A903140-6457-4F2B-95C5-A513F0544A32}" presName="linNode" presStyleCnt="0"/>
      <dgm:spPr/>
    </dgm:pt>
    <dgm:pt modelId="{D39A5EC6-6DF8-4BF8-B49F-4630C8638B3B}" type="pres">
      <dgm:prSet presAssocID="{4A903140-6457-4F2B-95C5-A513F0544A32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5831863A-B4F3-4507-A6E1-2C2042CDC2E2}" srcId="{8D45FB96-1201-4527-AE50-0D2A231ACD4E}" destId="{4A903140-6457-4F2B-95C5-A513F0544A32}" srcOrd="2" destOrd="0" parTransId="{CD48956C-B9E3-41F9-BBB5-06EF48A56343}" sibTransId="{E7E49CDB-56EA-44BC-A2EE-2B22CE271F9C}"/>
    <dgm:cxn modelId="{1D04856C-77B8-4E6A-A9BD-3AC561182BA6}" srcId="{8D45FB96-1201-4527-AE50-0D2A231ACD4E}" destId="{B7B33843-0754-4FF3-B49B-8F11BC16D28D}" srcOrd="1" destOrd="0" parTransId="{87639E9E-B227-4F36-9545-13AF8890DC24}" sibTransId="{EF0D59F3-9CD2-4B15-85DE-5FA5B95FA578}"/>
    <dgm:cxn modelId="{9B0DF14F-1409-4E46-91FB-2B657EECC56D}" type="presOf" srcId="{5E9248F6-F31D-4BDC-80C2-11777EEFA6CB}" destId="{95A2E00E-9571-4B64-B04A-238412E3CF73}" srcOrd="0" destOrd="0" presId="urn:microsoft.com/office/officeart/2005/8/layout/vList5"/>
    <dgm:cxn modelId="{69C91579-AC11-44D1-9626-6B3A8FABBD1D}" srcId="{8D45FB96-1201-4527-AE50-0D2A231ACD4E}" destId="{5E9248F6-F31D-4BDC-80C2-11777EEFA6CB}" srcOrd="0" destOrd="0" parTransId="{264A2D2A-B5CE-49CB-BFEA-C2A6BA861E04}" sibTransId="{F8552A97-8D6C-4C4D-800C-2D413DF08CBF}"/>
    <dgm:cxn modelId="{A1F0548D-401C-41E9-863C-4500E11B7E3A}" type="presOf" srcId="{8D45FB96-1201-4527-AE50-0D2A231ACD4E}" destId="{AF86DE14-4ABE-4338-9C67-29D8644C2D7A}" srcOrd="0" destOrd="0" presId="urn:microsoft.com/office/officeart/2005/8/layout/vList5"/>
    <dgm:cxn modelId="{F4482CD8-5A2D-4721-9B3B-79A2B3B8C988}" type="presOf" srcId="{B7B33843-0754-4FF3-B49B-8F11BC16D28D}" destId="{473807CB-2737-4FA0-B360-096A5EE62640}" srcOrd="0" destOrd="0" presId="urn:microsoft.com/office/officeart/2005/8/layout/vList5"/>
    <dgm:cxn modelId="{8700F9DA-95BE-42EF-9B7E-57A77AA96E32}" type="presOf" srcId="{4A903140-6457-4F2B-95C5-A513F0544A32}" destId="{D39A5EC6-6DF8-4BF8-B49F-4630C8638B3B}" srcOrd="0" destOrd="0" presId="urn:microsoft.com/office/officeart/2005/8/layout/vList5"/>
    <dgm:cxn modelId="{9E9BE24D-54E9-4B85-B672-E659A40D7353}" type="presParOf" srcId="{AF86DE14-4ABE-4338-9C67-29D8644C2D7A}" destId="{F68274EC-EC32-4A49-B8CB-1E8A24E54650}" srcOrd="0" destOrd="0" presId="urn:microsoft.com/office/officeart/2005/8/layout/vList5"/>
    <dgm:cxn modelId="{F5304FA7-2153-4B3A-AE9D-1176A7ED8B62}" type="presParOf" srcId="{F68274EC-EC32-4A49-B8CB-1E8A24E54650}" destId="{95A2E00E-9571-4B64-B04A-238412E3CF73}" srcOrd="0" destOrd="0" presId="urn:microsoft.com/office/officeart/2005/8/layout/vList5"/>
    <dgm:cxn modelId="{21B01506-192D-4AC4-8A33-3AD6D76ADF83}" type="presParOf" srcId="{AF86DE14-4ABE-4338-9C67-29D8644C2D7A}" destId="{272BBDEB-5698-46C0-B9E6-37B598A092A0}" srcOrd="1" destOrd="0" presId="urn:microsoft.com/office/officeart/2005/8/layout/vList5"/>
    <dgm:cxn modelId="{35EA3174-7394-4B9D-BDDF-4AA7E18CD5AE}" type="presParOf" srcId="{AF86DE14-4ABE-4338-9C67-29D8644C2D7A}" destId="{EAA1EBC6-0C46-4FE7-A59B-06FC4370D62E}" srcOrd="2" destOrd="0" presId="urn:microsoft.com/office/officeart/2005/8/layout/vList5"/>
    <dgm:cxn modelId="{D51C8E06-A56B-455C-89A3-DE8041B59933}" type="presParOf" srcId="{EAA1EBC6-0C46-4FE7-A59B-06FC4370D62E}" destId="{473807CB-2737-4FA0-B360-096A5EE62640}" srcOrd="0" destOrd="0" presId="urn:microsoft.com/office/officeart/2005/8/layout/vList5"/>
    <dgm:cxn modelId="{E75FB844-E6E4-422F-AB87-06668017C922}" type="presParOf" srcId="{AF86DE14-4ABE-4338-9C67-29D8644C2D7A}" destId="{B812E61B-F48C-40D2-9B4B-359AF7714E4C}" srcOrd="3" destOrd="0" presId="urn:microsoft.com/office/officeart/2005/8/layout/vList5"/>
    <dgm:cxn modelId="{10034866-2E47-4968-BA8A-6C7CCC933B40}" type="presParOf" srcId="{AF86DE14-4ABE-4338-9C67-29D8644C2D7A}" destId="{C74FE59D-54C1-4AF7-8252-C8A84BDDC2A4}" srcOrd="4" destOrd="0" presId="urn:microsoft.com/office/officeart/2005/8/layout/vList5"/>
    <dgm:cxn modelId="{687C6A98-E4AC-45EF-87DE-D56B0BA3DA05}" type="presParOf" srcId="{C74FE59D-54C1-4AF7-8252-C8A84BDDC2A4}" destId="{D39A5EC6-6DF8-4BF8-B49F-4630C8638B3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45FB96-1201-4527-AE50-0D2A231ACD4E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E9248F6-F31D-4BDC-80C2-11777EEFA6CB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Buffing Dust</a:t>
          </a:r>
          <a:endParaRPr lang="en-US" dirty="0"/>
        </a:p>
      </dgm:t>
    </dgm:pt>
    <dgm:pt modelId="{264A2D2A-B5CE-49CB-BFEA-C2A6BA861E04}" type="parTrans" cxnId="{69C91579-AC11-44D1-9626-6B3A8FABBD1D}">
      <dgm:prSet/>
      <dgm:spPr/>
      <dgm:t>
        <a:bodyPr/>
        <a:lstStyle/>
        <a:p>
          <a:endParaRPr lang="en-US"/>
        </a:p>
      </dgm:t>
    </dgm:pt>
    <dgm:pt modelId="{F8552A97-8D6C-4C4D-800C-2D413DF08CBF}" type="sibTrans" cxnId="{69C91579-AC11-44D1-9626-6B3A8FABBD1D}">
      <dgm:prSet/>
      <dgm:spPr/>
      <dgm:t>
        <a:bodyPr/>
        <a:lstStyle/>
        <a:p>
          <a:endParaRPr lang="en-US"/>
        </a:p>
      </dgm:t>
    </dgm:pt>
    <dgm:pt modelId="{99636226-B90A-4A2F-8B24-75C65F52F246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Collected from  Tanneries</a:t>
          </a:r>
          <a:endParaRPr lang="en-US" dirty="0"/>
        </a:p>
      </dgm:t>
    </dgm:pt>
    <dgm:pt modelId="{165F54FB-17B1-430F-87FA-C211403865BC}" type="parTrans" cxnId="{B6E4D1DD-07B9-4B2A-A840-E55AC8AED8BF}">
      <dgm:prSet/>
      <dgm:spPr/>
      <dgm:t>
        <a:bodyPr/>
        <a:lstStyle/>
        <a:p>
          <a:endParaRPr lang="en-US"/>
        </a:p>
      </dgm:t>
    </dgm:pt>
    <dgm:pt modelId="{88900A6E-282F-4F6A-A3F5-4026C8E5B5BD}" type="sibTrans" cxnId="{B6E4D1DD-07B9-4B2A-A840-E55AC8AED8BF}">
      <dgm:prSet/>
      <dgm:spPr/>
      <dgm:t>
        <a:bodyPr/>
        <a:lstStyle/>
        <a:p>
          <a:endParaRPr lang="en-US"/>
        </a:p>
      </dgm:t>
    </dgm:pt>
    <dgm:pt modelId="{B7B33843-0754-4FF3-B49B-8F11BC16D28D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Polystyrene</a:t>
          </a:r>
          <a:endParaRPr lang="en-US" dirty="0"/>
        </a:p>
      </dgm:t>
    </dgm:pt>
    <dgm:pt modelId="{87639E9E-B227-4F36-9545-13AF8890DC24}" type="parTrans" cxnId="{1D04856C-77B8-4E6A-A9BD-3AC561182BA6}">
      <dgm:prSet/>
      <dgm:spPr/>
      <dgm:t>
        <a:bodyPr/>
        <a:lstStyle/>
        <a:p>
          <a:endParaRPr lang="en-US"/>
        </a:p>
      </dgm:t>
    </dgm:pt>
    <dgm:pt modelId="{EF0D59F3-9CD2-4B15-85DE-5FA5B95FA578}" type="sibTrans" cxnId="{1D04856C-77B8-4E6A-A9BD-3AC561182BA6}">
      <dgm:prSet/>
      <dgm:spPr/>
      <dgm:t>
        <a:bodyPr/>
        <a:lstStyle/>
        <a:p>
          <a:endParaRPr lang="en-US"/>
        </a:p>
      </dgm:t>
    </dgm:pt>
    <dgm:pt modelId="{383054A6-C9FF-474A-8C1B-609C5F820131}">
      <dgm:prSet phldrT="[Text]" phldr="0"/>
      <dgm:spPr/>
      <dgm:t>
        <a:bodyPr/>
        <a:lstStyle/>
        <a:p>
          <a:pPr rtl="0"/>
          <a:r>
            <a:rPr lang="en-US" dirty="0">
              <a:latin typeface="Aharoni"/>
            </a:rPr>
            <a:t>200 </a:t>
          </a:r>
          <a:r>
            <a:rPr lang="en-US" dirty="0" err="1">
              <a:latin typeface="Aharoni"/>
            </a:rPr>
            <a:t>tk</a:t>
          </a:r>
          <a:r>
            <a:rPr lang="en-US" dirty="0">
              <a:latin typeface="Aharoni"/>
            </a:rPr>
            <a:t>/kg</a:t>
          </a:r>
          <a:endParaRPr lang="en-US" dirty="0"/>
        </a:p>
      </dgm:t>
    </dgm:pt>
    <dgm:pt modelId="{906F816E-8FB6-4E64-BF55-D42DCBB09747}" type="parTrans" cxnId="{F625F9BA-7FAA-40DE-8A1B-6C4724CC8FA0}">
      <dgm:prSet/>
      <dgm:spPr/>
      <dgm:t>
        <a:bodyPr/>
        <a:lstStyle/>
        <a:p>
          <a:endParaRPr lang="en-US"/>
        </a:p>
      </dgm:t>
    </dgm:pt>
    <dgm:pt modelId="{B6E1ED78-DE7C-400F-BDC1-3AB2B9104F3A}" type="sibTrans" cxnId="{F625F9BA-7FAA-40DE-8A1B-6C4724CC8FA0}">
      <dgm:prSet/>
      <dgm:spPr/>
      <dgm:t>
        <a:bodyPr/>
        <a:lstStyle/>
        <a:p>
          <a:endParaRPr lang="en-US"/>
        </a:p>
      </dgm:t>
    </dgm:pt>
    <dgm:pt modelId="{88F61D23-AB6D-41F1-B06E-C78745091C38}">
      <dgm:prSet phldr="0"/>
      <dgm:spPr/>
      <dgm:t>
        <a:bodyPr/>
        <a:lstStyle/>
        <a:p>
          <a:pPr rtl="0"/>
          <a:r>
            <a:rPr lang="en-US" dirty="0">
              <a:latin typeface="Aharoni"/>
            </a:rPr>
            <a:t>650 tk/500 gm</a:t>
          </a:r>
        </a:p>
      </dgm:t>
    </dgm:pt>
    <dgm:pt modelId="{A1DAA5DD-961C-4FEC-80C7-190A5486D928}" type="parTrans" cxnId="{8D46BC50-BA44-40A8-B88F-82047BAA606C}">
      <dgm:prSet/>
      <dgm:spPr/>
    </dgm:pt>
    <dgm:pt modelId="{5842E51F-6682-4D2D-9DF5-12D9BCD10D6D}" type="sibTrans" cxnId="{8D46BC50-BA44-40A8-B88F-82047BAA606C}">
      <dgm:prSet/>
      <dgm:spPr/>
      <dgm:t>
        <a:bodyPr/>
        <a:lstStyle/>
        <a:p>
          <a:endParaRPr lang="en-US"/>
        </a:p>
      </dgm:t>
    </dgm:pt>
    <dgm:pt modelId="{4A903140-6457-4F2B-95C5-A513F0544A32}">
      <dgm:prSet phldr="0"/>
      <dgm:spPr/>
      <dgm:t>
        <a:bodyPr/>
        <a:lstStyle/>
        <a:p>
          <a:pPr rtl="0"/>
          <a:r>
            <a:rPr lang="en-US" dirty="0">
              <a:latin typeface="Aharoni"/>
            </a:rPr>
            <a:t>Citric Acid</a:t>
          </a:r>
        </a:p>
      </dgm:t>
    </dgm:pt>
    <dgm:pt modelId="{CD48956C-B9E3-41F9-BBB5-06EF48A56343}" type="parTrans" cxnId="{5831863A-B4F3-4507-A6E1-2C2042CDC2E2}">
      <dgm:prSet/>
      <dgm:spPr/>
    </dgm:pt>
    <dgm:pt modelId="{E7E49CDB-56EA-44BC-A2EE-2B22CE271F9C}" type="sibTrans" cxnId="{5831863A-B4F3-4507-A6E1-2C2042CDC2E2}">
      <dgm:prSet/>
      <dgm:spPr/>
      <dgm:t>
        <a:bodyPr/>
        <a:lstStyle/>
        <a:p>
          <a:endParaRPr lang="en-US"/>
        </a:p>
      </dgm:t>
    </dgm:pt>
    <dgm:pt modelId="{AF86DE14-4ABE-4338-9C67-29D8644C2D7A}" type="pres">
      <dgm:prSet presAssocID="{8D45FB96-1201-4527-AE50-0D2A231ACD4E}" presName="Name0" presStyleCnt="0">
        <dgm:presLayoutVars>
          <dgm:dir/>
          <dgm:animLvl val="lvl"/>
          <dgm:resizeHandles val="exact"/>
        </dgm:presLayoutVars>
      </dgm:prSet>
      <dgm:spPr/>
    </dgm:pt>
    <dgm:pt modelId="{F68274EC-EC32-4A49-B8CB-1E8A24E54650}" type="pres">
      <dgm:prSet presAssocID="{5E9248F6-F31D-4BDC-80C2-11777EEFA6CB}" presName="linNode" presStyleCnt="0"/>
      <dgm:spPr/>
    </dgm:pt>
    <dgm:pt modelId="{95A2E00E-9571-4B64-B04A-238412E3CF73}" type="pres">
      <dgm:prSet presAssocID="{5E9248F6-F31D-4BDC-80C2-11777EEFA6C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B142ABE-8CA5-45D5-909F-47EC3F6B156C}" type="pres">
      <dgm:prSet presAssocID="{5E9248F6-F31D-4BDC-80C2-11777EEFA6CB}" presName="descendantText" presStyleLbl="alignAccFollowNode1" presStyleIdx="0" presStyleCnt="3">
        <dgm:presLayoutVars>
          <dgm:bulletEnabled val="1"/>
        </dgm:presLayoutVars>
      </dgm:prSet>
      <dgm:spPr/>
    </dgm:pt>
    <dgm:pt modelId="{272BBDEB-5698-46C0-B9E6-37B598A092A0}" type="pres">
      <dgm:prSet presAssocID="{F8552A97-8D6C-4C4D-800C-2D413DF08CBF}" presName="sp" presStyleCnt="0"/>
      <dgm:spPr/>
    </dgm:pt>
    <dgm:pt modelId="{EAA1EBC6-0C46-4FE7-A59B-06FC4370D62E}" type="pres">
      <dgm:prSet presAssocID="{B7B33843-0754-4FF3-B49B-8F11BC16D28D}" presName="linNode" presStyleCnt="0"/>
      <dgm:spPr/>
    </dgm:pt>
    <dgm:pt modelId="{473807CB-2737-4FA0-B360-096A5EE62640}" type="pres">
      <dgm:prSet presAssocID="{B7B33843-0754-4FF3-B49B-8F11BC16D28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631D6D1-1DEF-47CD-BD9A-07344C88C67B}" type="pres">
      <dgm:prSet presAssocID="{B7B33843-0754-4FF3-B49B-8F11BC16D28D}" presName="descendantText" presStyleLbl="alignAccFollowNode1" presStyleIdx="1" presStyleCnt="3">
        <dgm:presLayoutVars>
          <dgm:bulletEnabled val="1"/>
        </dgm:presLayoutVars>
      </dgm:prSet>
      <dgm:spPr/>
    </dgm:pt>
    <dgm:pt modelId="{B812E61B-F48C-40D2-9B4B-359AF7714E4C}" type="pres">
      <dgm:prSet presAssocID="{EF0D59F3-9CD2-4B15-85DE-5FA5B95FA578}" presName="sp" presStyleCnt="0"/>
      <dgm:spPr/>
    </dgm:pt>
    <dgm:pt modelId="{C74FE59D-54C1-4AF7-8252-C8A84BDDC2A4}" type="pres">
      <dgm:prSet presAssocID="{4A903140-6457-4F2B-95C5-A513F0544A32}" presName="linNode" presStyleCnt="0"/>
      <dgm:spPr/>
    </dgm:pt>
    <dgm:pt modelId="{D39A5EC6-6DF8-4BF8-B49F-4630C8638B3B}" type="pres">
      <dgm:prSet presAssocID="{4A903140-6457-4F2B-95C5-A513F0544A3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3A97F70D-BB36-4B98-AB6E-01EEE5FCBD3D}" type="pres">
      <dgm:prSet presAssocID="{4A903140-6457-4F2B-95C5-A513F0544A3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831863A-B4F3-4507-A6E1-2C2042CDC2E2}" srcId="{8D45FB96-1201-4527-AE50-0D2A231ACD4E}" destId="{4A903140-6457-4F2B-95C5-A513F0544A32}" srcOrd="2" destOrd="0" parTransId="{CD48956C-B9E3-41F9-BBB5-06EF48A56343}" sibTransId="{E7E49CDB-56EA-44BC-A2EE-2B22CE271F9C}"/>
    <dgm:cxn modelId="{CA6ECF3C-F011-4B12-9216-8EF9D38C66C0}" type="presOf" srcId="{383054A6-C9FF-474A-8C1B-609C5F820131}" destId="{0631D6D1-1DEF-47CD-BD9A-07344C88C67B}" srcOrd="0" destOrd="0" presId="urn:microsoft.com/office/officeart/2005/8/layout/vList5"/>
    <dgm:cxn modelId="{0BF4ED4B-F68F-40F5-A405-2E985E2DE150}" type="presOf" srcId="{4A903140-6457-4F2B-95C5-A513F0544A32}" destId="{D39A5EC6-6DF8-4BF8-B49F-4630C8638B3B}" srcOrd="0" destOrd="0" presId="urn:microsoft.com/office/officeart/2005/8/layout/vList5"/>
    <dgm:cxn modelId="{1D04856C-77B8-4E6A-A9BD-3AC561182BA6}" srcId="{8D45FB96-1201-4527-AE50-0D2A231ACD4E}" destId="{B7B33843-0754-4FF3-B49B-8F11BC16D28D}" srcOrd="1" destOrd="0" parTransId="{87639E9E-B227-4F36-9545-13AF8890DC24}" sibTransId="{EF0D59F3-9CD2-4B15-85DE-5FA5B95FA578}"/>
    <dgm:cxn modelId="{8D46BC50-BA44-40A8-B88F-82047BAA606C}" srcId="{4A903140-6457-4F2B-95C5-A513F0544A32}" destId="{88F61D23-AB6D-41F1-B06E-C78745091C38}" srcOrd="0" destOrd="0" parTransId="{A1DAA5DD-961C-4FEC-80C7-190A5486D928}" sibTransId="{5842E51F-6682-4D2D-9DF5-12D9BCD10D6D}"/>
    <dgm:cxn modelId="{69C91579-AC11-44D1-9626-6B3A8FABBD1D}" srcId="{8D45FB96-1201-4527-AE50-0D2A231ACD4E}" destId="{5E9248F6-F31D-4BDC-80C2-11777EEFA6CB}" srcOrd="0" destOrd="0" parTransId="{264A2D2A-B5CE-49CB-BFEA-C2A6BA861E04}" sibTransId="{F8552A97-8D6C-4C4D-800C-2D413DF08CBF}"/>
    <dgm:cxn modelId="{F3D13681-E17A-4AAF-AB63-E2495C2BFD48}" type="presOf" srcId="{88F61D23-AB6D-41F1-B06E-C78745091C38}" destId="{3A97F70D-BB36-4B98-AB6E-01EEE5FCBD3D}" srcOrd="0" destOrd="0" presId="urn:microsoft.com/office/officeart/2005/8/layout/vList5"/>
    <dgm:cxn modelId="{A1F0548D-401C-41E9-863C-4500E11B7E3A}" type="presOf" srcId="{8D45FB96-1201-4527-AE50-0D2A231ACD4E}" destId="{AF86DE14-4ABE-4338-9C67-29D8644C2D7A}" srcOrd="0" destOrd="0" presId="urn:microsoft.com/office/officeart/2005/8/layout/vList5"/>
    <dgm:cxn modelId="{F625F9BA-7FAA-40DE-8A1B-6C4724CC8FA0}" srcId="{B7B33843-0754-4FF3-B49B-8F11BC16D28D}" destId="{383054A6-C9FF-474A-8C1B-609C5F820131}" srcOrd="0" destOrd="0" parTransId="{906F816E-8FB6-4E64-BF55-D42DCBB09747}" sibTransId="{B6E1ED78-DE7C-400F-BDC1-3AB2B9104F3A}"/>
    <dgm:cxn modelId="{583F7BBD-0F2C-4638-9613-815DB0AE9764}" type="presOf" srcId="{B7B33843-0754-4FF3-B49B-8F11BC16D28D}" destId="{473807CB-2737-4FA0-B360-096A5EE62640}" srcOrd="0" destOrd="0" presId="urn:microsoft.com/office/officeart/2005/8/layout/vList5"/>
    <dgm:cxn modelId="{B18A72CC-DBCF-42EB-90A7-FE79255AE83F}" type="presOf" srcId="{5E9248F6-F31D-4BDC-80C2-11777EEFA6CB}" destId="{95A2E00E-9571-4B64-B04A-238412E3CF73}" srcOrd="0" destOrd="0" presId="urn:microsoft.com/office/officeart/2005/8/layout/vList5"/>
    <dgm:cxn modelId="{B6E4D1DD-07B9-4B2A-A840-E55AC8AED8BF}" srcId="{5E9248F6-F31D-4BDC-80C2-11777EEFA6CB}" destId="{99636226-B90A-4A2F-8B24-75C65F52F246}" srcOrd="0" destOrd="0" parTransId="{165F54FB-17B1-430F-87FA-C211403865BC}" sibTransId="{88900A6E-282F-4F6A-A3F5-4026C8E5B5BD}"/>
    <dgm:cxn modelId="{5136B9EA-A410-471D-BA1E-113E1519E6A9}" type="presOf" srcId="{99636226-B90A-4A2F-8B24-75C65F52F246}" destId="{8B142ABE-8CA5-45D5-909F-47EC3F6B156C}" srcOrd="0" destOrd="0" presId="urn:microsoft.com/office/officeart/2005/8/layout/vList5"/>
    <dgm:cxn modelId="{601FF357-0820-4489-843F-D17A4789E4BD}" type="presParOf" srcId="{AF86DE14-4ABE-4338-9C67-29D8644C2D7A}" destId="{F68274EC-EC32-4A49-B8CB-1E8A24E54650}" srcOrd="0" destOrd="0" presId="urn:microsoft.com/office/officeart/2005/8/layout/vList5"/>
    <dgm:cxn modelId="{2EA0F79E-E259-4CCF-899B-309D5EE7E44A}" type="presParOf" srcId="{F68274EC-EC32-4A49-B8CB-1E8A24E54650}" destId="{95A2E00E-9571-4B64-B04A-238412E3CF73}" srcOrd="0" destOrd="0" presId="urn:microsoft.com/office/officeart/2005/8/layout/vList5"/>
    <dgm:cxn modelId="{53A65998-FC16-4955-9AFF-877375084B77}" type="presParOf" srcId="{F68274EC-EC32-4A49-B8CB-1E8A24E54650}" destId="{8B142ABE-8CA5-45D5-909F-47EC3F6B156C}" srcOrd="1" destOrd="0" presId="urn:microsoft.com/office/officeart/2005/8/layout/vList5"/>
    <dgm:cxn modelId="{E0D19057-7B43-4539-AA12-B01A62A46B74}" type="presParOf" srcId="{AF86DE14-4ABE-4338-9C67-29D8644C2D7A}" destId="{272BBDEB-5698-46C0-B9E6-37B598A092A0}" srcOrd="1" destOrd="0" presId="urn:microsoft.com/office/officeart/2005/8/layout/vList5"/>
    <dgm:cxn modelId="{6677F9C3-28B2-4BB3-896B-8A680F908458}" type="presParOf" srcId="{AF86DE14-4ABE-4338-9C67-29D8644C2D7A}" destId="{EAA1EBC6-0C46-4FE7-A59B-06FC4370D62E}" srcOrd="2" destOrd="0" presId="urn:microsoft.com/office/officeart/2005/8/layout/vList5"/>
    <dgm:cxn modelId="{E6501826-9A0D-4CC9-84DF-8357AA33BA12}" type="presParOf" srcId="{EAA1EBC6-0C46-4FE7-A59B-06FC4370D62E}" destId="{473807CB-2737-4FA0-B360-096A5EE62640}" srcOrd="0" destOrd="0" presId="urn:microsoft.com/office/officeart/2005/8/layout/vList5"/>
    <dgm:cxn modelId="{6D37F88F-357B-42D9-857B-B781DA896887}" type="presParOf" srcId="{EAA1EBC6-0C46-4FE7-A59B-06FC4370D62E}" destId="{0631D6D1-1DEF-47CD-BD9A-07344C88C67B}" srcOrd="1" destOrd="0" presId="urn:microsoft.com/office/officeart/2005/8/layout/vList5"/>
    <dgm:cxn modelId="{EA98DF33-7694-4F73-8FF2-361CDC39BA79}" type="presParOf" srcId="{AF86DE14-4ABE-4338-9C67-29D8644C2D7A}" destId="{B812E61B-F48C-40D2-9B4B-359AF7714E4C}" srcOrd="3" destOrd="0" presId="urn:microsoft.com/office/officeart/2005/8/layout/vList5"/>
    <dgm:cxn modelId="{C2264AED-3BBF-450F-B2D2-680E0E7C684A}" type="presParOf" srcId="{AF86DE14-4ABE-4338-9C67-29D8644C2D7A}" destId="{C74FE59D-54C1-4AF7-8252-C8A84BDDC2A4}" srcOrd="4" destOrd="0" presId="urn:microsoft.com/office/officeart/2005/8/layout/vList5"/>
    <dgm:cxn modelId="{58D4062C-14EA-45F8-AC06-57DE8FA011F7}" type="presParOf" srcId="{C74FE59D-54C1-4AF7-8252-C8A84BDDC2A4}" destId="{D39A5EC6-6DF8-4BF8-B49F-4630C8638B3B}" srcOrd="0" destOrd="0" presId="urn:microsoft.com/office/officeart/2005/8/layout/vList5"/>
    <dgm:cxn modelId="{D6F89D27-DE44-4307-99DE-A72306008FDA}" type="presParOf" srcId="{C74FE59D-54C1-4AF7-8252-C8A84BDDC2A4}" destId="{3A97F70D-BB36-4B98-AB6E-01EEE5FCBD3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A2E00E-9571-4B64-B04A-238412E3CF73}">
      <dsp:nvSpPr>
        <dsp:cNvPr id="0" name=""/>
        <dsp:cNvSpPr/>
      </dsp:nvSpPr>
      <dsp:spPr>
        <a:xfrm>
          <a:off x="2931231" y="1777"/>
          <a:ext cx="3297636" cy="11733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Buffing Dust</a:t>
          </a:r>
          <a:endParaRPr lang="en-US" sz="3700" kern="1200" dirty="0"/>
        </a:p>
      </dsp:txBody>
      <dsp:txXfrm>
        <a:off x="2988510" y="59056"/>
        <a:ext cx="3183078" cy="1058799"/>
      </dsp:txXfrm>
    </dsp:sp>
    <dsp:sp modelId="{473807CB-2737-4FA0-B360-096A5EE62640}">
      <dsp:nvSpPr>
        <dsp:cNvPr id="0" name=""/>
        <dsp:cNvSpPr/>
      </dsp:nvSpPr>
      <dsp:spPr>
        <a:xfrm>
          <a:off x="2931231" y="1233803"/>
          <a:ext cx="3297636" cy="1173357"/>
        </a:xfrm>
        <a:prstGeom prst="roundRect">
          <a:avLst/>
        </a:prstGeom>
        <a:solidFill>
          <a:schemeClr val="accent2">
            <a:hueOff val="1166154"/>
            <a:satOff val="-6666"/>
            <a:lumOff val="-8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Polystyrene</a:t>
          </a:r>
          <a:endParaRPr lang="en-US" sz="3700" kern="1200" dirty="0"/>
        </a:p>
      </dsp:txBody>
      <dsp:txXfrm>
        <a:off x="2988510" y="1291082"/>
        <a:ext cx="3183078" cy="1058799"/>
      </dsp:txXfrm>
    </dsp:sp>
    <dsp:sp modelId="{D39A5EC6-6DF8-4BF8-B49F-4630C8638B3B}">
      <dsp:nvSpPr>
        <dsp:cNvPr id="0" name=""/>
        <dsp:cNvSpPr/>
      </dsp:nvSpPr>
      <dsp:spPr>
        <a:xfrm>
          <a:off x="2931231" y="2465829"/>
          <a:ext cx="3297636" cy="1173357"/>
        </a:xfrm>
        <a:prstGeom prst="roundRect">
          <a:avLst/>
        </a:prstGeom>
        <a:solidFill>
          <a:schemeClr val="accent2">
            <a:hueOff val="2332307"/>
            <a:satOff val="-13331"/>
            <a:lumOff val="-164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Blowing Agent</a:t>
          </a:r>
        </a:p>
      </dsp:txBody>
      <dsp:txXfrm>
        <a:off x="2988510" y="2523108"/>
        <a:ext cx="3183078" cy="1058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42ABE-8CA5-45D5-909F-47EC3F6B156C}">
      <dsp:nvSpPr>
        <dsp:cNvPr id="0" name=""/>
        <dsp:cNvSpPr/>
      </dsp:nvSpPr>
      <dsp:spPr>
        <a:xfrm rot="5400000">
          <a:off x="5759524" y="-2342775"/>
          <a:ext cx="938686" cy="586246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Aharoni"/>
            </a:rPr>
            <a:t>Collected from  Tanneries</a:t>
          </a:r>
          <a:endParaRPr lang="en-US" sz="3400" kern="1200" dirty="0"/>
        </a:p>
      </dsp:txBody>
      <dsp:txXfrm rot="-5400000">
        <a:off x="3297636" y="164936"/>
        <a:ext cx="5816641" cy="847040"/>
      </dsp:txXfrm>
    </dsp:sp>
    <dsp:sp modelId="{95A2E00E-9571-4B64-B04A-238412E3CF73}">
      <dsp:nvSpPr>
        <dsp:cNvPr id="0" name=""/>
        <dsp:cNvSpPr/>
      </dsp:nvSpPr>
      <dsp:spPr>
        <a:xfrm>
          <a:off x="0" y="1777"/>
          <a:ext cx="3297636" cy="11733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Buffing Dust</a:t>
          </a:r>
          <a:endParaRPr lang="en-US" sz="3700" kern="1200" dirty="0"/>
        </a:p>
      </dsp:txBody>
      <dsp:txXfrm>
        <a:off x="57279" y="59056"/>
        <a:ext cx="3183078" cy="1058799"/>
      </dsp:txXfrm>
    </dsp:sp>
    <dsp:sp modelId="{0631D6D1-1DEF-47CD-BD9A-07344C88C67B}">
      <dsp:nvSpPr>
        <dsp:cNvPr id="0" name=""/>
        <dsp:cNvSpPr/>
      </dsp:nvSpPr>
      <dsp:spPr>
        <a:xfrm rot="5400000">
          <a:off x="5759524" y="-1110749"/>
          <a:ext cx="938686" cy="5862464"/>
        </a:xfrm>
        <a:prstGeom prst="round2SameRect">
          <a:avLst/>
        </a:prstGeom>
        <a:solidFill>
          <a:schemeClr val="accent2">
            <a:tint val="40000"/>
            <a:alpha val="90000"/>
            <a:hueOff val="991320"/>
            <a:satOff val="-12616"/>
            <a:lumOff val="-161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91320"/>
              <a:satOff val="-12616"/>
              <a:lumOff val="-16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Aharoni"/>
            </a:rPr>
            <a:t>200 </a:t>
          </a:r>
          <a:r>
            <a:rPr lang="en-US" sz="3400" kern="1200" dirty="0" err="1">
              <a:latin typeface="Aharoni"/>
            </a:rPr>
            <a:t>tk</a:t>
          </a:r>
          <a:r>
            <a:rPr lang="en-US" sz="3400" kern="1200" dirty="0">
              <a:latin typeface="Aharoni"/>
            </a:rPr>
            <a:t>/kg</a:t>
          </a:r>
          <a:endParaRPr lang="en-US" sz="3400" kern="1200" dirty="0"/>
        </a:p>
      </dsp:txBody>
      <dsp:txXfrm rot="-5400000">
        <a:off x="3297636" y="1396962"/>
        <a:ext cx="5816641" cy="847040"/>
      </dsp:txXfrm>
    </dsp:sp>
    <dsp:sp modelId="{473807CB-2737-4FA0-B360-096A5EE62640}">
      <dsp:nvSpPr>
        <dsp:cNvPr id="0" name=""/>
        <dsp:cNvSpPr/>
      </dsp:nvSpPr>
      <dsp:spPr>
        <a:xfrm>
          <a:off x="0" y="1233803"/>
          <a:ext cx="3297636" cy="1173357"/>
        </a:xfrm>
        <a:prstGeom prst="roundRect">
          <a:avLst/>
        </a:prstGeom>
        <a:solidFill>
          <a:schemeClr val="accent2">
            <a:hueOff val="1166154"/>
            <a:satOff val="-6666"/>
            <a:lumOff val="-8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Polystyrene</a:t>
          </a:r>
          <a:endParaRPr lang="en-US" sz="3700" kern="1200" dirty="0"/>
        </a:p>
      </dsp:txBody>
      <dsp:txXfrm>
        <a:off x="57279" y="1291082"/>
        <a:ext cx="3183078" cy="1058799"/>
      </dsp:txXfrm>
    </dsp:sp>
    <dsp:sp modelId="{3A97F70D-BB36-4B98-AB6E-01EEE5FCBD3D}">
      <dsp:nvSpPr>
        <dsp:cNvPr id="0" name=""/>
        <dsp:cNvSpPr/>
      </dsp:nvSpPr>
      <dsp:spPr>
        <a:xfrm rot="5400000">
          <a:off x="5759524" y="121276"/>
          <a:ext cx="938686" cy="5862464"/>
        </a:xfrm>
        <a:prstGeom prst="round2SameRect">
          <a:avLst/>
        </a:prstGeom>
        <a:solidFill>
          <a:schemeClr val="accent2">
            <a:tint val="40000"/>
            <a:alpha val="90000"/>
            <a:hueOff val="1982640"/>
            <a:satOff val="-25232"/>
            <a:lumOff val="-32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82640"/>
              <a:satOff val="-25232"/>
              <a:lumOff val="-32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>
              <a:latin typeface="Aharoni"/>
            </a:rPr>
            <a:t>650 tk/500 gm</a:t>
          </a:r>
        </a:p>
      </dsp:txBody>
      <dsp:txXfrm rot="-5400000">
        <a:off x="3297636" y="2628988"/>
        <a:ext cx="5816641" cy="847040"/>
      </dsp:txXfrm>
    </dsp:sp>
    <dsp:sp modelId="{D39A5EC6-6DF8-4BF8-B49F-4630C8638B3B}">
      <dsp:nvSpPr>
        <dsp:cNvPr id="0" name=""/>
        <dsp:cNvSpPr/>
      </dsp:nvSpPr>
      <dsp:spPr>
        <a:xfrm>
          <a:off x="0" y="2465829"/>
          <a:ext cx="3297636" cy="1173357"/>
        </a:xfrm>
        <a:prstGeom prst="roundRect">
          <a:avLst/>
        </a:prstGeom>
        <a:solidFill>
          <a:schemeClr val="accent2">
            <a:hueOff val="2332307"/>
            <a:satOff val="-13331"/>
            <a:lumOff val="-164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>
              <a:latin typeface="Aharoni"/>
            </a:rPr>
            <a:t>Citric Acid</a:t>
          </a:r>
        </a:p>
      </dsp:txBody>
      <dsp:txXfrm>
        <a:off x="57279" y="2523108"/>
        <a:ext cx="3183078" cy="1058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940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9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0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4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1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47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1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6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38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737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352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512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901" r:id="rId6"/>
    <p:sldLayoutId id="2147483896" r:id="rId7"/>
    <p:sldLayoutId id="2147483897" r:id="rId8"/>
    <p:sldLayoutId id="2147483898" r:id="rId9"/>
    <p:sldLayoutId id="2147483900" r:id="rId10"/>
    <p:sldLayoutId id="214748389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9727012-97DE-47A6-9F25-DBDC9FEE5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66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3744" y="1454447"/>
            <a:ext cx="5292256" cy="2660353"/>
          </a:xfrm>
        </p:spPr>
        <p:txBody>
          <a:bodyPr anchor="t">
            <a:normAutofit/>
          </a:bodyPr>
          <a:lstStyle/>
          <a:p>
            <a:r>
              <a:rPr lang="en-US" sz="3300" b="1" dirty="0"/>
              <a:t>Capstone Project</a:t>
            </a:r>
            <a:br>
              <a:rPr lang="en-US" sz="3300" dirty="0"/>
            </a:br>
            <a:br>
              <a:rPr lang="en-US" sz="3300" dirty="0"/>
            </a:br>
            <a:endParaRPr lang="en-US" sz="2000" b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3935" y="3404863"/>
            <a:ext cx="5518796" cy="117592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Thermal Insulator from Buffing Dust </a:t>
            </a:r>
          </a:p>
          <a:p>
            <a:pPr>
              <a:lnSpc>
                <a:spcPct val="120000"/>
              </a:lnSpc>
            </a:pPr>
            <a:endParaRPr lang="en-US" sz="2800" b="1" dirty="0"/>
          </a:p>
          <a:p>
            <a:pPr>
              <a:lnSpc>
                <a:spcPct val="120000"/>
              </a:lnSpc>
            </a:pPr>
            <a:r>
              <a:rPr lang="en-US" sz="2800" dirty="0"/>
              <a:t> 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C81E96-E4A2-4187-9D53-003091F59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09F66C-6C97-488C-B3DA-B2E646B04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92286" y="1589649"/>
            <a:ext cx="4114787" cy="4105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50FB6E5-EBFB-9771-D40E-2D2E1CEF1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79" r="-2" b="30708"/>
          <a:stretch/>
        </p:blipFill>
        <p:spPr>
          <a:xfrm>
            <a:off x="6719245" y="3637427"/>
            <a:ext cx="4097889" cy="1447059"/>
          </a:xfrm>
          <a:prstGeom prst="rect">
            <a:avLst/>
          </a:prstGeom>
          <a:effectLst/>
        </p:spPr>
      </p:pic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4A8669C-06EC-4BD6-8785-C3240B310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10265" y="3031813"/>
            <a:ext cx="739110" cy="3010261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E26F9-4C47-3046-7B12-E793A93FB80E}"/>
              </a:ext>
            </a:extLst>
          </p:cNvPr>
          <p:cNvSpPr txBox="1"/>
          <p:nvPr/>
        </p:nvSpPr>
        <p:spPr>
          <a:xfrm>
            <a:off x="823235" y="5139804"/>
            <a:ext cx="40309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Group :11</a:t>
            </a:r>
          </a:p>
          <a:p>
            <a:r>
              <a:rPr lang="en-US" dirty="0"/>
              <a:t>ID         : 2011049-2011054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DE89493-AC86-4DB9-8963-3671DDEB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5ED4E38-F46A-4BCD-CCBE-081F0163C35D}"/>
              </a:ext>
            </a:extLst>
          </p:cNvPr>
          <p:cNvSpPr>
            <a:spLocks noGrp="1"/>
          </p:cNvSpPr>
          <p:nvPr/>
        </p:nvSpPr>
        <p:spPr>
          <a:xfrm>
            <a:off x="5820478" y="665389"/>
            <a:ext cx="5383433" cy="15071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sz="4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3200" b="1" cap="all" spc="700" dirty="0">
                <a:latin typeface="Avenir Next LT Pro"/>
              </a:rPr>
              <a:t>Overview</a:t>
            </a:r>
            <a:r>
              <a:rPr lang="en-US" sz="3200" b="1" cap="all" spc="700" dirty="0"/>
              <a:t>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6AA894-081C-464A-82E2-3A37A8791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59" y="2170408"/>
            <a:ext cx="3539673" cy="4685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795" y="1061319"/>
            <a:ext cx="4381506" cy="341399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Gray Cobalt Buffing dust powder steel grade, For Industrial at Rs  10/kilogram in Khopoli">
            <a:extLst>
              <a:ext uri="{FF2B5EF4-FFF2-40B4-BE49-F238E27FC236}">
                <a16:creationId xmlns:a16="http://schemas.microsoft.com/office/drawing/2014/main" id="{04D31F22-82EC-0F80-7AFD-539135E9A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21" y="1508444"/>
            <a:ext cx="3845257" cy="38452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9766-D917-C95C-9C3F-C3C6DE41A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0479" y="2400301"/>
            <a:ext cx="5383433" cy="3733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We aim to make a thermal insulator from buffing dust which mainly aims to recycle approximately </a:t>
            </a:r>
            <a:r>
              <a:rPr lang="en-US" sz="2400" b="1" dirty="0"/>
              <a:t>1.18 × 10</a:t>
            </a:r>
            <a:r>
              <a:rPr lang="en-US" sz="2400" b="1" baseline="30000" dirty="0"/>
              <a:t>4</a:t>
            </a:r>
            <a:r>
              <a:rPr lang="en-US" sz="2400" b="1" dirty="0"/>
              <a:t> –3.54 × 10</a:t>
            </a:r>
            <a:r>
              <a:rPr lang="en-US" sz="2400" b="1" baseline="30000" dirty="0"/>
              <a:t>4</a:t>
            </a:r>
            <a:r>
              <a:rPr lang="en-US" sz="2400" b="1" dirty="0"/>
              <a:t> </a:t>
            </a:r>
            <a:r>
              <a:rPr lang="en-US" sz="2400" b="1" err="1"/>
              <a:t>tonne</a:t>
            </a:r>
            <a:r>
              <a:rPr lang="en-US" sz="2400" dirty="0"/>
              <a:t> waste generated in tannery industries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985391" y="483870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8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62A2D2A-418A-44CF-BDFA-DF226CCC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D2F08D-1D29-4936-B7D6-9F88442A0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C727D49-D2FD-46AD-8B1A-11C9E5D9A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991935" y="25208"/>
            <a:ext cx="8194701" cy="2260787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7DB1C2B-A281-41EA-98EB-489A3DCD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819" y="659510"/>
            <a:ext cx="10699380" cy="5410200"/>
          </a:xfrm>
          <a:prstGeom prst="rect">
            <a:avLst/>
          </a:prstGeom>
          <a:ln w="38100">
            <a:noFill/>
          </a:ln>
          <a:effectLst>
            <a:outerShdw dist="190500" dir="2640000" algn="tl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1B8FC-6405-3C88-197D-C89F6850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5" y="1126902"/>
            <a:ext cx="9374746" cy="650384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latin typeface="Avenir Next LT Pro"/>
                <a:ea typeface="+mj-lt"/>
                <a:cs typeface="+mj-lt"/>
              </a:rPr>
              <a:t>Materials</a:t>
            </a:r>
            <a:r>
              <a:rPr lang="en-US" sz="2400" b="1" dirty="0">
                <a:latin typeface="Avenir Next LT Pro Light"/>
                <a:ea typeface="+mj-lt"/>
                <a:cs typeface="+mj-lt"/>
              </a:rPr>
              <a:t> :</a:t>
            </a:r>
            <a:endParaRPr lang="en-US" sz="2400" b="1">
              <a:latin typeface="Avenir Next LT Pro Ligh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06992D1-5017-226B-C554-24DA7058D4B0}"/>
              </a:ext>
            </a:extLst>
          </p:cNvPr>
          <p:cNvGraphicFramePr/>
          <p:nvPr/>
        </p:nvGraphicFramePr>
        <p:xfrm>
          <a:off x="1600200" y="2019300"/>
          <a:ext cx="9160100" cy="3640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40239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62A2D2A-418A-44CF-BDFA-DF226CCC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D2F08D-1D29-4936-B7D6-9F88442A0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C727D49-D2FD-46AD-8B1A-11C9E5D9A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991935" y="25208"/>
            <a:ext cx="8194701" cy="2260787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77DB1C2B-A281-41EA-98EB-489A3DCD6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819" y="659510"/>
            <a:ext cx="10699380" cy="5410200"/>
          </a:xfrm>
          <a:prstGeom prst="rect">
            <a:avLst/>
          </a:prstGeom>
          <a:ln w="38100">
            <a:noFill/>
          </a:ln>
          <a:effectLst>
            <a:outerShdw dist="190500" dir="2640000" algn="tl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1B8FC-6405-3C88-197D-C89F6850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5" y="1126902"/>
            <a:ext cx="9374746" cy="650384"/>
          </a:xfrm>
        </p:spPr>
        <p:txBody>
          <a:bodyPr anchor="ctr">
            <a:normAutofit/>
          </a:bodyPr>
          <a:lstStyle/>
          <a:p>
            <a:r>
              <a:rPr lang="en-US" sz="2400" b="1" dirty="0">
                <a:latin typeface="Avenir Next LT Pro"/>
                <a:ea typeface="+mj-lt"/>
                <a:cs typeface="+mj-lt"/>
              </a:rPr>
              <a:t>Materials</a:t>
            </a:r>
            <a:r>
              <a:rPr lang="en-US" sz="2400" dirty="0">
                <a:latin typeface="Avenir Next LT Pro Demi"/>
                <a:ea typeface="+mj-lt"/>
                <a:cs typeface="+mj-lt"/>
              </a:rPr>
              <a:t> &amp; Their Costing:</a:t>
            </a:r>
            <a:endParaRPr lang="en-US" sz="2400" dirty="0">
              <a:latin typeface="Avenir Next LT Pro Demi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06992D1-5017-226B-C554-24DA7058D4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2103917"/>
              </p:ext>
            </p:extLst>
          </p:nvPr>
        </p:nvGraphicFramePr>
        <p:xfrm>
          <a:off x="1600200" y="2019300"/>
          <a:ext cx="9160100" cy="3640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04952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614264-BA32-414F-95BE-0A30CC072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E6F31-6DF0-7631-2039-5318F4D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453" y="381454"/>
            <a:ext cx="5357875" cy="1784106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Avenir Next LT Pro"/>
              </a:rPr>
              <a:t>Attempt one: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665415"/>
            <a:ext cx="693472" cy="3192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3883" y="2289908"/>
            <a:ext cx="2344272" cy="3988948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black objects on a white paper&#10;&#10;Description automatically generated">
            <a:extLst>
              <a:ext uri="{FF2B5EF4-FFF2-40B4-BE49-F238E27FC236}">
                <a16:creationId xmlns:a16="http://schemas.microsoft.com/office/drawing/2014/main" id="{A3020AF3-93B9-F2F5-2A5E-2FF17E5C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68" r="-2" b="10831"/>
          <a:stretch/>
        </p:blipFill>
        <p:spPr>
          <a:xfrm>
            <a:off x="916658" y="303717"/>
            <a:ext cx="2951453" cy="2951453"/>
          </a:xfrm>
          <a:custGeom>
            <a:avLst/>
            <a:gdLst/>
            <a:ahLst/>
            <a:cxnLst/>
            <a:rect l="l" t="t" r="r" b="b"/>
            <a:pathLst>
              <a:path w="4625350" h="4625350">
                <a:moveTo>
                  <a:pt x="2312675" y="0"/>
                </a:moveTo>
                <a:cubicBezTo>
                  <a:pt x="3589930" y="0"/>
                  <a:pt x="4625350" y="1035420"/>
                  <a:pt x="4625350" y="2312675"/>
                </a:cubicBezTo>
                <a:cubicBezTo>
                  <a:pt x="4625350" y="3589930"/>
                  <a:pt x="3589930" y="4625350"/>
                  <a:pt x="2312675" y="4625350"/>
                </a:cubicBezTo>
                <a:cubicBezTo>
                  <a:pt x="1035420" y="4625350"/>
                  <a:pt x="0" y="3589930"/>
                  <a:pt x="0" y="2312675"/>
                </a:cubicBezTo>
                <a:cubicBezTo>
                  <a:pt x="0" y="1035420"/>
                  <a:pt x="1035420" y="0"/>
                  <a:pt x="2312675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0705285-5CED-426B-BB57-F586C6764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986521" y="-1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dirt on a white paper&#10;&#10;Description automatically generated">
            <a:extLst>
              <a:ext uri="{FF2B5EF4-FFF2-40B4-BE49-F238E27FC236}">
                <a16:creationId xmlns:a16="http://schemas.microsoft.com/office/drawing/2014/main" id="{1DCC0461-40BB-B9C2-F365-8AA42DC220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67" r="-2" b="13832"/>
          <a:stretch/>
        </p:blipFill>
        <p:spPr>
          <a:xfrm>
            <a:off x="2166614" y="3403226"/>
            <a:ext cx="2951454" cy="2951454"/>
          </a:xfrm>
          <a:custGeom>
            <a:avLst/>
            <a:gdLst/>
            <a:ahLst/>
            <a:cxnLst/>
            <a:rect l="l" t="t" r="r" b="b"/>
            <a:pathLst>
              <a:path w="2951454" h="2951454">
                <a:moveTo>
                  <a:pt x="1475727" y="0"/>
                </a:moveTo>
                <a:cubicBezTo>
                  <a:pt x="2290749" y="0"/>
                  <a:pt x="2951454" y="660705"/>
                  <a:pt x="2951454" y="1475727"/>
                </a:cubicBezTo>
                <a:cubicBezTo>
                  <a:pt x="2951454" y="2290749"/>
                  <a:pt x="2290749" y="2951454"/>
                  <a:pt x="1475727" y="2951454"/>
                </a:cubicBezTo>
                <a:cubicBezTo>
                  <a:pt x="660705" y="2951454"/>
                  <a:pt x="0" y="2290749"/>
                  <a:pt x="0" y="1475727"/>
                </a:cubicBezTo>
                <a:cubicBezTo>
                  <a:pt x="0" y="660705"/>
                  <a:pt x="660705" y="0"/>
                  <a:pt x="1475727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6652-D79A-DFCE-5623-066A35F8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453" y="2585648"/>
            <a:ext cx="5357875" cy="35870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Avenir Next LT Pro"/>
              </a:rPr>
              <a:t>Material Ratio </a:t>
            </a:r>
          </a:p>
          <a:p>
            <a:pPr marL="0" indent="0">
              <a:buNone/>
            </a:pPr>
            <a:r>
              <a:rPr lang="en-US" sz="2400" dirty="0"/>
              <a:t>Polystyrene : Buffing Dust </a:t>
            </a:r>
          </a:p>
          <a:p>
            <a:pPr marL="0" indent="0">
              <a:buNone/>
            </a:pPr>
            <a:r>
              <a:rPr lang="en-US" sz="2400" dirty="0"/>
              <a:t>77 : 23</a:t>
            </a:r>
          </a:p>
        </p:txBody>
      </p:sp>
    </p:spTree>
    <p:extLst>
      <p:ext uri="{BB962C8B-B14F-4D97-AF65-F5344CB8AC3E}">
        <p14:creationId xmlns:p14="http://schemas.microsoft.com/office/powerpoint/2010/main" val="312411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C614264-BA32-414F-95BE-0A30CC072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E6F31-6DF0-7631-2039-5318F4D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56" y="381454"/>
            <a:ext cx="6820997" cy="1784106"/>
          </a:xfrm>
        </p:spPr>
        <p:txBody>
          <a:bodyPr>
            <a:normAutofit/>
          </a:bodyPr>
          <a:lstStyle/>
          <a:p>
            <a:r>
              <a:rPr lang="en-US" b="1">
                <a:latin typeface="Avenir Next LT Pro"/>
              </a:rPr>
              <a:t>Attempt one: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05285-5CED-426B-BB57-F586C6764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802" y="-1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6652-D79A-DFCE-5623-066A35F8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58" y="2592087"/>
            <a:ext cx="4825417" cy="35870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>
                <a:latin typeface="Avenir Next LT Pro"/>
              </a:rPr>
              <a:t>Result: </a:t>
            </a:r>
          </a:p>
          <a:p>
            <a:r>
              <a:rPr lang="en-US"/>
              <a:t>Brittle Material</a:t>
            </a:r>
            <a:endParaRPr lang="en-US" dirty="0"/>
          </a:p>
          <a:p>
            <a:r>
              <a:rPr lang="en-US" dirty="0"/>
              <a:t>Clear Sound Upon Cracking</a:t>
            </a:r>
          </a:p>
          <a:p>
            <a:r>
              <a:rPr lang="en-US"/>
              <a:t>Apparently hard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16" y="3741313"/>
            <a:ext cx="955464" cy="3116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96" y="2678732"/>
            <a:ext cx="2074265" cy="3600124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black objects on a white paper&#10;&#10;Description automatically generated">
            <a:extLst>
              <a:ext uri="{FF2B5EF4-FFF2-40B4-BE49-F238E27FC236}">
                <a16:creationId xmlns:a16="http://schemas.microsoft.com/office/drawing/2014/main" id="{A3020AF3-93B9-F2F5-2A5E-2FF17E5C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68" r="-2" b="10831"/>
          <a:stretch/>
        </p:blipFill>
        <p:spPr>
          <a:xfrm>
            <a:off x="8594507" y="477548"/>
            <a:ext cx="2951453" cy="2951453"/>
          </a:xfrm>
          <a:custGeom>
            <a:avLst/>
            <a:gdLst/>
            <a:ahLst/>
            <a:cxnLst/>
            <a:rect l="l" t="t" r="r" b="b"/>
            <a:pathLst>
              <a:path w="4625350" h="4625350">
                <a:moveTo>
                  <a:pt x="2312675" y="0"/>
                </a:moveTo>
                <a:cubicBezTo>
                  <a:pt x="3589930" y="0"/>
                  <a:pt x="4625350" y="1035420"/>
                  <a:pt x="4625350" y="2312675"/>
                </a:cubicBezTo>
                <a:cubicBezTo>
                  <a:pt x="4625350" y="3589930"/>
                  <a:pt x="3589930" y="4625350"/>
                  <a:pt x="2312675" y="4625350"/>
                </a:cubicBezTo>
                <a:cubicBezTo>
                  <a:pt x="1035420" y="4625350"/>
                  <a:pt x="0" y="3589930"/>
                  <a:pt x="0" y="2312675"/>
                </a:cubicBezTo>
                <a:cubicBezTo>
                  <a:pt x="0" y="1035420"/>
                  <a:pt x="1035420" y="0"/>
                  <a:pt x="2312675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  <p:pic>
        <p:nvPicPr>
          <p:cNvPr id="5" name="Picture 4" descr="A group of dirt on a white paper&#10;&#10;Description automatically generated">
            <a:extLst>
              <a:ext uri="{FF2B5EF4-FFF2-40B4-BE49-F238E27FC236}">
                <a16:creationId xmlns:a16="http://schemas.microsoft.com/office/drawing/2014/main" id="{1DCC0461-40BB-B9C2-F365-8AA42DC220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67" r="-2" b="13832"/>
          <a:stretch/>
        </p:blipFill>
        <p:spPr>
          <a:xfrm>
            <a:off x="6605801" y="3327401"/>
            <a:ext cx="2951454" cy="2951454"/>
          </a:xfrm>
          <a:custGeom>
            <a:avLst/>
            <a:gdLst/>
            <a:ahLst/>
            <a:cxnLst/>
            <a:rect l="l" t="t" r="r" b="b"/>
            <a:pathLst>
              <a:path w="2951454" h="2951454">
                <a:moveTo>
                  <a:pt x="1475727" y="0"/>
                </a:moveTo>
                <a:cubicBezTo>
                  <a:pt x="2290749" y="0"/>
                  <a:pt x="2951454" y="660705"/>
                  <a:pt x="2951454" y="1475727"/>
                </a:cubicBezTo>
                <a:cubicBezTo>
                  <a:pt x="2951454" y="2290749"/>
                  <a:pt x="2290749" y="2951454"/>
                  <a:pt x="1475727" y="2951454"/>
                </a:cubicBezTo>
                <a:cubicBezTo>
                  <a:pt x="660705" y="2951454"/>
                  <a:pt x="0" y="2290749"/>
                  <a:pt x="0" y="1475727"/>
                </a:cubicBezTo>
                <a:cubicBezTo>
                  <a:pt x="0" y="660705"/>
                  <a:pt x="660705" y="0"/>
                  <a:pt x="1475727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3918309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614264-BA32-414F-95BE-0A30CC072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E6F31-6DF0-7631-2039-5318F4D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8453" y="381454"/>
            <a:ext cx="5357875" cy="1784106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Avenir Next LT Pro"/>
              </a:rPr>
              <a:t>Attempt TWO: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665415"/>
            <a:ext cx="693472" cy="3192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3883" y="2289908"/>
            <a:ext cx="2344272" cy="3988948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brown objects on a white surface&#10;&#10;Description automatically generated">
            <a:extLst>
              <a:ext uri="{FF2B5EF4-FFF2-40B4-BE49-F238E27FC236}">
                <a16:creationId xmlns:a16="http://schemas.microsoft.com/office/drawing/2014/main" id="{A3020AF3-93B9-F2F5-2A5E-2FF17E5C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00" b="12500"/>
          <a:stretch/>
        </p:blipFill>
        <p:spPr>
          <a:xfrm>
            <a:off x="1772603" y="2433141"/>
            <a:ext cx="2951453" cy="2951453"/>
          </a:xfrm>
          <a:custGeom>
            <a:avLst/>
            <a:gdLst/>
            <a:ahLst/>
            <a:cxnLst/>
            <a:rect l="l" t="t" r="r" b="b"/>
            <a:pathLst>
              <a:path w="4625350" h="4625350">
                <a:moveTo>
                  <a:pt x="2312675" y="0"/>
                </a:moveTo>
                <a:cubicBezTo>
                  <a:pt x="3589930" y="0"/>
                  <a:pt x="4625350" y="1035420"/>
                  <a:pt x="4625350" y="2312675"/>
                </a:cubicBezTo>
                <a:cubicBezTo>
                  <a:pt x="4625350" y="3589930"/>
                  <a:pt x="3589930" y="4625350"/>
                  <a:pt x="2312675" y="4625350"/>
                </a:cubicBezTo>
                <a:cubicBezTo>
                  <a:pt x="1035420" y="4625350"/>
                  <a:pt x="0" y="3589930"/>
                  <a:pt x="0" y="2312675"/>
                </a:cubicBezTo>
                <a:cubicBezTo>
                  <a:pt x="0" y="1035420"/>
                  <a:pt x="1035420" y="0"/>
                  <a:pt x="2312675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0705285-5CED-426B-BB57-F586C6764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986521" y="-1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6652-D79A-DFCE-5623-066A35F8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453" y="2585648"/>
            <a:ext cx="5357875" cy="35870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Avenir Next LT Pro"/>
              </a:rPr>
              <a:t>Material Ratio </a:t>
            </a:r>
          </a:p>
          <a:p>
            <a:pPr marL="0" indent="0">
              <a:buNone/>
            </a:pPr>
            <a:r>
              <a:rPr lang="en-US" sz="2400" dirty="0"/>
              <a:t>Polystyrene : Buffing Dust : Citric Acid </a:t>
            </a:r>
          </a:p>
          <a:p>
            <a:pPr marL="0" indent="0">
              <a:buNone/>
            </a:pPr>
            <a:r>
              <a:rPr lang="en-US" sz="2400" dirty="0"/>
              <a:t>77 : 20 : 3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24704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C614264-BA32-414F-95BE-0A30CC072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CE6F31-6DF0-7631-2039-5318F4D3F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56" y="381454"/>
            <a:ext cx="6820997" cy="1784106"/>
          </a:xfrm>
        </p:spPr>
        <p:txBody>
          <a:bodyPr>
            <a:normAutofit/>
          </a:bodyPr>
          <a:lstStyle/>
          <a:p>
            <a:r>
              <a:rPr lang="en-US" b="1" dirty="0">
                <a:latin typeface="Avenir Next LT Pro"/>
              </a:rPr>
              <a:t>Attempt Two: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05285-5CED-426B-BB57-F586C6764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802" y="-1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6652-D79A-DFCE-5623-066A35F8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58" y="2592087"/>
            <a:ext cx="4825417" cy="35870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venir Next LT Pro"/>
              </a:rPr>
              <a:t>Result: </a:t>
            </a:r>
          </a:p>
          <a:p>
            <a:r>
              <a:rPr lang="en-US" dirty="0"/>
              <a:t>Less Hard</a:t>
            </a:r>
          </a:p>
          <a:p>
            <a:r>
              <a:rPr lang="en-US" dirty="0"/>
              <a:t>More foamy</a:t>
            </a:r>
          </a:p>
          <a:p>
            <a:r>
              <a:rPr lang="en-US" dirty="0"/>
              <a:t>Clear sound upon cracking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16" y="3741313"/>
            <a:ext cx="955464" cy="3116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96" y="2678732"/>
            <a:ext cx="2074265" cy="3600124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brown objects on a white surface&#10;&#10;Description automatically generated">
            <a:extLst>
              <a:ext uri="{FF2B5EF4-FFF2-40B4-BE49-F238E27FC236}">
                <a16:creationId xmlns:a16="http://schemas.microsoft.com/office/drawing/2014/main" id="{A3020AF3-93B9-F2F5-2A5E-2FF17E5C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00" b="12500"/>
          <a:stretch/>
        </p:blipFill>
        <p:spPr>
          <a:xfrm>
            <a:off x="6632096" y="3024507"/>
            <a:ext cx="2951453" cy="2951453"/>
          </a:xfrm>
          <a:custGeom>
            <a:avLst/>
            <a:gdLst/>
            <a:ahLst/>
            <a:cxnLst/>
            <a:rect l="l" t="t" r="r" b="b"/>
            <a:pathLst>
              <a:path w="4625350" h="4625350">
                <a:moveTo>
                  <a:pt x="2312675" y="0"/>
                </a:moveTo>
                <a:cubicBezTo>
                  <a:pt x="3589930" y="0"/>
                  <a:pt x="4625350" y="1035420"/>
                  <a:pt x="4625350" y="2312675"/>
                </a:cubicBezTo>
                <a:cubicBezTo>
                  <a:pt x="4625350" y="3589930"/>
                  <a:pt x="3589930" y="4625350"/>
                  <a:pt x="2312675" y="4625350"/>
                </a:cubicBezTo>
                <a:cubicBezTo>
                  <a:pt x="1035420" y="4625350"/>
                  <a:pt x="0" y="3589930"/>
                  <a:pt x="0" y="2312675"/>
                </a:cubicBezTo>
                <a:cubicBezTo>
                  <a:pt x="0" y="1035420"/>
                  <a:pt x="1035420" y="0"/>
                  <a:pt x="2312675" y="0"/>
                </a:cubicBezTo>
                <a:close/>
              </a:path>
            </a:pathLst>
          </a:custGeom>
          <a:effectLst>
            <a:outerShdw dist="165100" dir="8100000" algn="tr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38056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6827C3C-D52F-46CE-A441-3CD6A1A6A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2A8B51-0A89-497B-B882-6658E029A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brown objects on a white surface&#10;&#10;Description automatically generated">
            <a:extLst>
              <a:ext uri="{FF2B5EF4-FFF2-40B4-BE49-F238E27FC236}">
                <a16:creationId xmlns:a16="http://schemas.microsoft.com/office/drawing/2014/main" id="{A7FC4C95-5BA8-0369-F3C9-F657A0CD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43" y="1313669"/>
            <a:ext cx="3031483" cy="404560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B1CEFBF-6F09-4052-862B-E219DA157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6882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oup of black objects on a white paper&#10;&#10;Description automatically generated">
            <a:extLst>
              <a:ext uri="{FF2B5EF4-FFF2-40B4-BE49-F238E27FC236}">
                <a16:creationId xmlns:a16="http://schemas.microsoft.com/office/drawing/2014/main" id="{16ADB1FB-3488-2968-C48A-79D2C1334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663" y="1324210"/>
            <a:ext cx="3000102" cy="403642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CB5D417-2A71-445D-B4C7-9E814D633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2847" y="643466"/>
            <a:ext cx="3522548" cy="5571067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dirt on a white paper&#10;&#10;Description automatically generated">
            <a:extLst>
              <a:ext uri="{FF2B5EF4-FFF2-40B4-BE49-F238E27FC236}">
                <a16:creationId xmlns:a16="http://schemas.microsoft.com/office/drawing/2014/main" id="{EDBE48C8-E32F-3AD3-7D61-734C5B49D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512" y="1312816"/>
            <a:ext cx="3010988" cy="404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29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DE89493-AC86-4DB9-8963-3671DDEB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8E9D9-1A4F-D7D3-11D2-602D892A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478" y="978540"/>
            <a:ext cx="5383433" cy="15071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spc="1300" dirty="0">
                <a:latin typeface="Avenir Next LT Pro"/>
              </a:rPr>
              <a:t>Current Problem: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6AA894-081C-464A-82E2-3A37A8791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459" y="2170408"/>
            <a:ext cx="3539673" cy="4685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795" y="1061319"/>
            <a:ext cx="4381506" cy="341399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B0A42006-5F8C-F7B2-A849-E3A203CC8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621" y="1508444"/>
            <a:ext cx="3845257" cy="38452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9D130-C767-EBD0-65C2-F644F0895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0479" y="3120548"/>
            <a:ext cx="5383433" cy="3733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cap="all" spc="600" dirty="0">
                <a:latin typeface="Avenir Next LT Pro"/>
              </a:rPr>
              <a:t>Absence of High to low pressure transition</a:t>
            </a:r>
            <a:endParaRPr lang="en-US" sz="2400" b="1" cap="all" spc="600" dirty="0">
              <a:latin typeface="Avenir Next LT Pro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985391" y="483870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22D577B-9018-47AD-8C60-A09FB788A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B151D-F9F8-3BD5-DC20-7F1F5BA3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707098"/>
            <a:ext cx="5295900" cy="14591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1" spc="1300">
                <a:latin typeface="Avenir Next LT Pro"/>
              </a:rPr>
              <a:t>Requirements: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E2E558-1756-4EDF-A961-1F0E5C5B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E76B-9A46-7CB1-A226-19F94425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1" y="3287281"/>
            <a:ext cx="4979598" cy="37508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cap="all" spc="600" dirty="0">
                <a:latin typeface="+mn-lt"/>
              </a:rPr>
              <a:t>A Mould from Stainless Steel</a:t>
            </a:r>
          </a:p>
          <a:p>
            <a:pPr marL="0" indent="0">
              <a:buNone/>
            </a:pPr>
            <a:endParaRPr lang="en-US" sz="2800" cap="all" spc="600" dirty="0">
              <a:latin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792" y="3886200"/>
            <a:ext cx="949990" cy="2971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823615" y="2413875"/>
            <a:ext cx="2289284" cy="3815228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ilver cylinder with a white surface&#10;&#10;Description automatically generated">
            <a:extLst>
              <a:ext uri="{FF2B5EF4-FFF2-40B4-BE49-F238E27FC236}">
                <a16:creationId xmlns:a16="http://schemas.microsoft.com/office/drawing/2014/main" id="{8357769D-D799-5FF3-43CF-95025A461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7" t="-5310" r="4375" b="5752"/>
          <a:stretch/>
        </p:blipFill>
        <p:spPr>
          <a:xfrm>
            <a:off x="6221275" y="2022443"/>
            <a:ext cx="3990071" cy="3981771"/>
          </a:xfrm>
          <a:custGeom>
            <a:avLst/>
            <a:gdLst/>
            <a:ahLst/>
            <a:cxnLst/>
            <a:rect l="l" t="t" r="r" b="b"/>
            <a:pathLst>
              <a:path w="4487466" h="4487466">
                <a:moveTo>
                  <a:pt x="2243733" y="0"/>
                </a:moveTo>
                <a:cubicBezTo>
                  <a:pt x="3482913" y="0"/>
                  <a:pt x="4487466" y="1004553"/>
                  <a:pt x="4487466" y="2243733"/>
                </a:cubicBezTo>
                <a:cubicBezTo>
                  <a:pt x="4487466" y="3482913"/>
                  <a:pt x="3482913" y="4487466"/>
                  <a:pt x="2243733" y="4487466"/>
                </a:cubicBezTo>
                <a:cubicBezTo>
                  <a:pt x="1004553" y="4487466"/>
                  <a:pt x="0" y="3482913"/>
                  <a:pt x="0" y="2243733"/>
                </a:cubicBezTo>
                <a:cubicBezTo>
                  <a:pt x="0" y="1004553"/>
                  <a:pt x="1004553" y="0"/>
                  <a:pt x="224373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0360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22D577B-9018-47AD-8C60-A09FB788A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B151D-F9F8-3BD5-DC20-7F1F5BA3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707098"/>
            <a:ext cx="5295900" cy="14591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1" spc="1300">
                <a:latin typeface="Avenir Next LT Pro"/>
              </a:rPr>
              <a:t>Requirements: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E2E558-1756-4EDF-A961-1F0E5C5B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E76B-9A46-7CB1-A226-19F94425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1" y="2932377"/>
            <a:ext cx="4979598" cy="37508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cap="all" spc="600" dirty="0">
                <a:latin typeface="+mn-lt"/>
              </a:rPr>
              <a:t>Access to electric arc furnace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792" y="3886200"/>
            <a:ext cx="949990" cy="2971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823615" y="2413875"/>
            <a:ext cx="2289284" cy="3815228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fire inside a circular object&#10;&#10;Description automatically generated">
            <a:extLst>
              <a:ext uri="{FF2B5EF4-FFF2-40B4-BE49-F238E27FC236}">
                <a16:creationId xmlns:a16="http://schemas.microsoft.com/office/drawing/2014/main" id="{8357769D-D799-5FF3-43CF-95025A461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34" r="16534"/>
          <a:stretch/>
        </p:blipFill>
        <p:spPr>
          <a:xfrm>
            <a:off x="6409164" y="2408662"/>
            <a:ext cx="3718674" cy="3647744"/>
          </a:xfrm>
          <a:custGeom>
            <a:avLst/>
            <a:gdLst/>
            <a:ahLst/>
            <a:cxnLst/>
            <a:rect l="l" t="t" r="r" b="b"/>
            <a:pathLst>
              <a:path w="4487466" h="4487466">
                <a:moveTo>
                  <a:pt x="2243733" y="0"/>
                </a:moveTo>
                <a:cubicBezTo>
                  <a:pt x="3482913" y="0"/>
                  <a:pt x="4487466" y="1004553"/>
                  <a:pt x="4487466" y="2243733"/>
                </a:cubicBezTo>
                <a:cubicBezTo>
                  <a:pt x="4487466" y="3482913"/>
                  <a:pt x="3482913" y="4487466"/>
                  <a:pt x="2243733" y="4487466"/>
                </a:cubicBezTo>
                <a:cubicBezTo>
                  <a:pt x="1004553" y="4487466"/>
                  <a:pt x="0" y="3482913"/>
                  <a:pt x="0" y="2243733"/>
                </a:cubicBezTo>
                <a:cubicBezTo>
                  <a:pt x="0" y="1004553"/>
                  <a:pt x="1004553" y="0"/>
                  <a:pt x="224373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562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22D577B-9018-47AD-8C60-A09FB788A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2B151D-F9F8-3BD5-DC20-7F1F5BA35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707098"/>
            <a:ext cx="5295900" cy="14591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b="1" spc="1300">
                <a:latin typeface="Avenir Next LT Pro"/>
              </a:rPr>
              <a:t>Requirements: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E2E558-1756-4EDF-A961-1F0E5C5B1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E76B-9A46-7CB1-A226-19F94425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1" y="3214213"/>
            <a:ext cx="4979598" cy="37508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cap="all" spc="600" dirty="0">
                <a:latin typeface="+mn-lt"/>
              </a:rPr>
              <a:t>High Pressure co2 gas</a:t>
            </a:r>
          </a:p>
          <a:p>
            <a:pPr marL="0" indent="0">
              <a:buNone/>
            </a:pPr>
            <a:endParaRPr lang="en-US" sz="2800" cap="all" spc="600" dirty="0">
              <a:latin typeface="+mn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01B466-517B-4B8B-A80A-FD0ECAECF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792" y="3886200"/>
            <a:ext cx="949990" cy="2971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42EF36-E4B3-4B8C-A6B8-4C12B704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823615" y="2413875"/>
            <a:ext cx="2289284" cy="3815228"/>
          </a:xfrm>
          <a:prstGeom prst="rect">
            <a:avLst/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everal cylinders with nozzles&#10;&#10;Description automatically generated">
            <a:extLst>
              <a:ext uri="{FF2B5EF4-FFF2-40B4-BE49-F238E27FC236}">
                <a16:creationId xmlns:a16="http://schemas.microsoft.com/office/drawing/2014/main" id="{8357769D-D799-5FF3-43CF-95025A461C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9" b="199"/>
          <a:stretch/>
        </p:blipFill>
        <p:spPr>
          <a:xfrm>
            <a:off x="6304782" y="2022444"/>
            <a:ext cx="3990072" cy="3908704"/>
          </a:xfrm>
          <a:custGeom>
            <a:avLst/>
            <a:gdLst/>
            <a:ahLst/>
            <a:cxnLst/>
            <a:rect l="l" t="t" r="r" b="b"/>
            <a:pathLst>
              <a:path w="4487466" h="4487466">
                <a:moveTo>
                  <a:pt x="2243733" y="0"/>
                </a:moveTo>
                <a:cubicBezTo>
                  <a:pt x="3482913" y="0"/>
                  <a:pt x="4487466" y="1004553"/>
                  <a:pt x="4487466" y="2243733"/>
                </a:cubicBezTo>
                <a:cubicBezTo>
                  <a:pt x="4487466" y="3482913"/>
                  <a:pt x="3482913" y="4487466"/>
                  <a:pt x="2243733" y="4487466"/>
                </a:cubicBezTo>
                <a:cubicBezTo>
                  <a:pt x="1004553" y="4487466"/>
                  <a:pt x="0" y="3482913"/>
                  <a:pt x="0" y="2243733"/>
                </a:cubicBezTo>
                <a:cubicBezTo>
                  <a:pt x="0" y="1004553"/>
                  <a:pt x="1004553" y="0"/>
                  <a:pt x="224373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840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3226DE-7000-4FAF-BE14-E3C3CE373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233AC3-4E84-4387-AAFF-A500B445A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884" y="0"/>
            <a:ext cx="121968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00D408D-84C2-4911-89AE-8BBD2C54A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884" y="3058886"/>
            <a:ext cx="3831080" cy="3799114"/>
          </a:xfrm>
          <a:custGeom>
            <a:avLst/>
            <a:gdLst>
              <a:gd name="connsiteX0" fmla="*/ 0 w 6918934"/>
              <a:gd name="connsiteY0" fmla="*/ 0 h 6861203"/>
              <a:gd name="connsiteX1" fmla="*/ 6918934 w 6918934"/>
              <a:gd name="connsiteY1" fmla="*/ 0 h 6861203"/>
              <a:gd name="connsiteX2" fmla="*/ 6918934 w 6918934"/>
              <a:gd name="connsiteY2" fmla="*/ 6861203 h 6861203"/>
              <a:gd name="connsiteX3" fmla="*/ 0 w 6918934"/>
              <a:gd name="connsiteY3" fmla="*/ 6861203 h 6861203"/>
              <a:gd name="connsiteX4" fmla="*/ 0 w 6918934"/>
              <a:gd name="connsiteY4" fmla="*/ 0 h 6861203"/>
              <a:gd name="connsiteX0" fmla="*/ 0 w 6918934"/>
              <a:gd name="connsiteY0" fmla="*/ 0 h 6861203"/>
              <a:gd name="connsiteX1" fmla="*/ 6918934 w 6918934"/>
              <a:gd name="connsiteY1" fmla="*/ 6861203 h 6861203"/>
              <a:gd name="connsiteX2" fmla="*/ 0 w 6918934"/>
              <a:gd name="connsiteY2" fmla="*/ 6861203 h 6861203"/>
              <a:gd name="connsiteX3" fmla="*/ 0 w 6918934"/>
              <a:gd name="connsiteY3" fmla="*/ 0 h 6861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8934" h="6861203">
                <a:moveTo>
                  <a:pt x="0" y="0"/>
                </a:moveTo>
                <a:lnTo>
                  <a:pt x="6918934" y="6861203"/>
                </a:lnTo>
                <a:lnTo>
                  <a:pt x="0" y="68612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99C0D10-35E6-46AC-A9BC-C31599F54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1655" y="0"/>
            <a:ext cx="4920343" cy="4920343"/>
          </a:xfrm>
          <a:custGeom>
            <a:avLst/>
            <a:gdLst>
              <a:gd name="connsiteX0" fmla="*/ 0 w 4920343"/>
              <a:gd name="connsiteY0" fmla="*/ 0 h 4920343"/>
              <a:gd name="connsiteX1" fmla="*/ 4920343 w 4920343"/>
              <a:gd name="connsiteY1" fmla="*/ 0 h 4920343"/>
              <a:gd name="connsiteX2" fmla="*/ 4920343 w 4920343"/>
              <a:gd name="connsiteY2" fmla="*/ 4920343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0343" h="4920343">
                <a:moveTo>
                  <a:pt x="0" y="0"/>
                </a:moveTo>
                <a:lnTo>
                  <a:pt x="4920343" y="0"/>
                </a:lnTo>
                <a:lnTo>
                  <a:pt x="4920343" y="4920343"/>
                </a:lnTo>
                <a:close/>
              </a:path>
            </a:pathLst>
          </a:custGeom>
          <a:blipFill dpi="0" rotWithShape="0">
            <a:blip r:embed="rId4">
              <a:alphaModFix amt="9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tile tx="0" ty="0" sx="40000" sy="4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6259759-A9F9-4D41-AF92-198AAC53F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4195" y="1374192"/>
            <a:ext cx="9443611" cy="4154323"/>
          </a:xfrm>
          <a:prstGeom prst="rect">
            <a:avLst/>
          </a:prstGeom>
          <a:ln w="38100">
            <a:noFill/>
          </a:ln>
          <a:effectLst>
            <a:outerShdw dist="165100" dir="2700000" algn="tl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ADFEE-083E-7885-1EC7-25FC9E554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985" y="1828800"/>
            <a:ext cx="7108031" cy="19359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z="3600" spc="13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163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niceBeachVTI">
  <a:themeElements>
    <a:clrScheme name="Venice Beach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VeniceBeachVTI</vt:lpstr>
      <vt:lpstr>Capstone Project  </vt:lpstr>
      <vt:lpstr>PowerPoint Presentation</vt:lpstr>
      <vt:lpstr>Materials :</vt:lpstr>
      <vt:lpstr>Materials &amp; Their Costing:</vt:lpstr>
      <vt:lpstr>Attempt one:</vt:lpstr>
      <vt:lpstr>Attempt one:</vt:lpstr>
      <vt:lpstr>Attempt TWO:</vt:lpstr>
      <vt:lpstr>Attempt Two:</vt:lpstr>
      <vt:lpstr>PowerPoint Presentation</vt:lpstr>
      <vt:lpstr>Current Problem:</vt:lpstr>
      <vt:lpstr>Requirements:</vt:lpstr>
      <vt:lpstr>Requirements:</vt:lpstr>
      <vt:lpstr>Requirements: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399</cp:revision>
  <dcterms:created xsi:type="dcterms:W3CDTF">2024-09-17T15:31:00Z</dcterms:created>
  <dcterms:modified xsi:type="dcterms:W3CDTF">2024-09-18T05:09:38Z</dcterms:modified>
</cp:coreProperties>
</file>