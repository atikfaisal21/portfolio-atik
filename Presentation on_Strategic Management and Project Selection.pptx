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276D61-9F27-40BD-8662-72B816E5844E}" v="647" dt="2023-01-16T08:01:07.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2FE-E00B-4FAF-8F73-F722060EBA12}"/>
              </a:ext>
            </a:extLst>
          </p:cNvPr>
          <p:cNvSpPr>
            <a:spLocks noGrp="1"/>
          </p:cNvSpPr>
          <p:nvPr>
            <p:ph type="ctrTitle"/>
          </p:nvPr>
        </p:nvSpPr>
        <p:spPr>
          <a:xfrm>
            <a:off x="482600" y="978408"/>
            <a:ext cx="10506991" cy="2531555"/>
          </a:xfrm>
          <a:prstGeom prst="rect">
            <a:avLst/>
          </a:prstGeom>
        </p:spPr>
        <p:txBody>
          <a:bodyPr anchor="b"/>
          <a:lstStyle>
            <a:lvl1pPr algn="l">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7C1CCE2-4461-473E-B23C-34C8CCF04B3A}"/>
              </a:ext>
            </a:extLst>
          </p:cNvPr>
          <p:cNvSpPr>
            <a:spLocks noGrp="1"/>
          </p:cNvSpPr>
          <p:nvPr>
            <p:ph type="subTitle" idx="1"/>
          </p:nvPr>
        </p:nvSpPr>
        <p:spPr>
          <a:xfrm>
            <a:off x="482600" y="3602038"/>
            <a:ext cx="10506991" cy="227755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AA551A-CE2F-4E35-A714-B1F04D4B4E8E}"/>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26B5C907-6594-4DFF-A32B-449C3BA9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76D75-E9DA-4660-AC52-51BA63FCB94D}"/>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0" name="Straight Connector 9">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51518384"/>
      </p:ext>
    </p:extLst>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3735-A77F-440D-9448-6AE7C204D377}"/>
              </a:ext>
            </a:extLst>
          </p:cNvPr>
          <p:cNvSpPr>
            <a:spLocks noGrp="1"/>
          </p:cNvSpPr>
          <p:nvPr>
            <p:ph type="title"/>
          </p:nvPr>
        </p:nvSpPr>
        <p:spPr>
          <a:xfrm>
            <a:off x="482600" y="978408"/>
            <a:ext cx="10634472" cy="2157984"/>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276C6EE-D55E-454B-B28C-EC73D1DB4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A2905-6D2E-4319-9521-61452AB8F996}"/>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6DAC7550-84E8-49D3-B419-6F5F327DA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2C6B-EA5D-4D97-BC84-6C860D53636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879050517"/>
      </p:ext>
    </p:extLst>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1B299E6-11CC-4181-86C3-528A13F1F556}"/>
              </a:ext>
              <a:ext uri="{C183D7F6-B498-43B3-948B-1728B52AA6E4}">
                <adec:decorative xmlns:adec="http://schemas.microsoft.com/office/drawing/2017/decorative" val="1"/>
              </a:ext>
            </a:extLst>
          </p:cNvPr>
          <p:cNvSpPr/>
          <p:nvPr/>
        </p:nvSpPr>
        <p:spPr>
          <a:xfrm>
            <a:off x="481007" y="3922232"/>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03473-0A64-4F9F-833B-8D64E39019B1}"/>
              </a:ext>
            </a:extLst>
          </p:cNvPr>
          <p:cNvSpPr>
            <a:spLocks noGrp="1"/>
          </p:cNvSpPr>
          <p:nvPr>
            <p:ph type="title"/>
          </p:nvPr>
        </p:nvSpPr>
        <p:spPr>
          <a:xfrm>
            <a:off x="482600" y="978409"/>
            <a:ext cx="10515600" cy="2716769"/>
          </a:xfrm>
          <a:prstGeom prst="rect">
            <a:avLst/>
          </a:prstGeo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6873736-B424-40F2-B562-6DC10E5EDE4F}"/>
              </a:ext>
            </a:extLst>
          </p:cNvPr>
          <p:cNvSpPr>
            <a:spLocks noGrp="1"/>
          </p:cNvSpPr>
          <p:nvPr>
            <p:ph type="body" idx="1"/>
          </p:nvPr>
        </p:nvSpPr>
        <p:spPr>
          <a:xfrm>
            <a:off x="482600" y="4171445"/>
            <a:ext cx="10515600" cy="1918205"/>
          </a:xfrm>
        </p:spPr>
        <p:txBody>
          <a:bodyPr>
            <a:normAutofit/>
          </a:bodyPr>
          <a:lstStyle>
            <a:lvl1pPr marL="0" indent="0">
              <a:buNone/>
              <a:defRPr lang="en-US" sz="2400" i="1"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Date Placeholder 3">
            <a:extLst>
              <a:ext uri="{FF2B5EF4-FFF2-40B4-BE49-F238E27FC236}">
                <a16:creationId xmlns:a16="http://schemas.microsoft.com/office/drawing/2014/main" id="{74348851-37C0-478D-B722-D76C817DC49D}"/>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263E063E-66CE-4C18-91FA-D14AE052D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66D3D-FD62-470C-BC3C-A03771A32F60}"/>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1" name="Straight Connector 10">
            <a:extLst>
              <a:ext uri="{FF2B5EF4-FFF2-40B4-BE49-F238E27FC236}">
                <a16:creationId xmlns:a16="http://schemas.microsoft.com/office/drawing/2014/main" id="{DDFF0049-0231-4557-A707-569556F0CA83}"/>
              </a:ext>
              <a:ext uri="{C183D7F6-B498-43B3-948B-1728B52AA6E4}">
                <adec:decorative xmlns:adec="http://schemas.microsoft.com/office/drawing/2017/decorative" val="1"/>
              </a:ext>
            </a:extLst>
          </p:cNvPr>
          <p:cNvCxnSpPr>
            <a:cxnSpLocks/>
          </p:cNvCxnSpPr>
          <p:nvPr/>
        </p:nvCxnSpPr>
        <p:spPr>
          <a:xfrm>
            <a:off x="481007" y="3922232"/>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57A0DB1-87C8-4BF4-B2A2-F9CA6ED05AC4}"/>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6C29209-8A8F-48A7-8BA2-AFADA37CBD4F}"/>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58254251"/>
      </p:ext>
    </p:extLst>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66BE9C-AE7C-4C39-9694-C32D6939B965}"/>
              </a:ext>
              <a:ext uri="{C183D7F6-B498-43B3-948B-1728B52AA6E4}">
                <adec:decorative xmlns:adec="http://schemas.microsoft.com/office/drawing/2017/decorative" val="1"/>
              </a:ext>
            </a:extLst>
          </p:cNvPr>
          <p:cNvSpPr/>
          <p:nvPr/>
        </p:nvSpPr>
        <p:spPr>
          <a:xfrm>
            <a:off x="481007" y="483577"/>
            <a:ext cx="11147071" cy="2434824"/>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CC42C-303A-4BDF-990A-2B07967BC9A9}"/>
              </a:ext>
            </a:extLst>
          </p:cNvPr>
          <p:cNvSpPr>
            <a:spLocks noGrp="1"/>
          </p:cNvSpPr>
          <p:nvPr>
            <p:ph type="title"/>
          </p:nvPr>
        </p:nvSpPr>
        <p:spPr>
          <a:xfrm>
            <a:off x="482599" y="978408"/>
            <a:ext cx="11147071" cy="1755263"/>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0C55CEF-353E-4E14-83AD-ACADDC08D943}"/>
              </a:ext>
            </a:extLst>
          </p:cNvPr>
          <p:cNvSpPr>
            <a:spLocks noGrp="1"/>
          </p:cNvSpPr>
          <p:nvPr>
            <p:ph sz="half" idx="1"/>
          </p:nvPr>
        </p:nvSpPr>
        <p:spPr>
          <a:xfrm>
            <a:off x="48260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E55ECEF-9654-4AC1-BF77-7BC602BBD434}"/>
              </a:ext>
            </a:extLst>
          </p:cNvPr>
          <p:cNvSpPr>
            <a:spLocks noGrp="1"/>
          </p:cNvSpPr>
          <p:nvPr>
            <p:ph sz="half" idx="2"/>
          </p:nvPr>
        </p:nvSpPr>
        <p:spPr>
          <a:xfrm>
            <a:off x="621112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4922FC8-BC06-407B-A82B-DA62B33A1CD4}"/>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6" name="Footer Placeholder 5">
            <a:extLst>
              <a:ext uri="{FF2B5EF4-FFF2-40B4-BE49-F238E27FC236}">
                <a16:creationId xmlns:a16="http://schemas.microsoft.com/office/drawing/2014/main" id="{7915B701-4E1F-48AA-8A3C-ED5DD9151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BCA31-8AC7-46F5-BCAB-41D54DF83D78}"/>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a:extLst>
              <a:ext uri="{FF2B5EF4-FFF2-40B4-BE49-F238E27FC236}">
                <a16:creationId xmlns:a16="http://schemas.microsoft.com/office/drawing/2014/main" id="{21BA86D8-2A29-4A0E-AEA0-39B41C4187DE}"/>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085E13E-918A-4D04-9E84-94148D7C878E}"/>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76145256"/>
      </p:ext>
    </p:extLst>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E892-D975-4DD6-8583-A14DDBE85F0C}"/>
              </a:ext>
            </a:extLst>
          </p:cNvPr>
          <p:cNvSpPr>
            <a:spLocks noGrp="1"/>
          </p:cNvSpPr>
          <p:nvPr>
            <p:ph type="title"/>
          </p:nvPr>
        </p:nvSpPr>
        <p:spPr>
          <a:xfrm>
            <a:off x="484631" y="978407"/>
            <a:ext cx="11145039" cy="1339584"/>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1F7700-CECC-4881-BE5C-A13CD825B73B}"/>
              </a:ext>
            </a:extLst>
          </p:cNvPr>
          <p:cNvSpPr>
            <a:spLocks noGrp="1"/>
          </p:cNvSpPr>
          <p:nvPr>
            <p:ph type="body" idx="1"/>
          </p:nvPr>
        </p:nvSpPr>
        <p:spPr>
          <a:xfrm>
            <a:off x="484632" y="2500921"/>
            <a:ext cx="5346222" cy="823912"/>
          </a:xfrm>
        </p:spPr>
        <p:txBody>
          <a:bodyPr anchor="b">
            <a:normAutofit/>
          </a:bodyPr>
          <a:lstStyle>
            <a:lvl1pPr marL="0" indent="0">
              <a:buNone/>
              <a:defRPr lang="en-US" sz="2400" b="0" i="1"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Content Placeholder 3">
            <a:extLst>
              <a:ext uri="{FF2B5EF4-FFF2-40B4-BE49-F238E27FC236}">
                <a16:creationId xmlns:a16="http://schemas.microsoft.com/office/drawing/2014/main" id="{4CA50766-520A-44C5-943E-569222B74104}"/>
              </a:ext>
            </a:extLst>
          </p:cNvPr>
          <p:cNvSpPr>
            <a:spLocks noGrp="1"/>
          </p:cNvSpPr>
          <p:nvPr>
            <p:ph sz="half" idx="2"/>
          </p:nvPr>
        </p:nvSpPr>
        <p:spPr>
          <a:xfrm>
            <a:off x="484632" y="3428999"/>
            <a:ext cx="5346222"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72F7E42-976A-4239-8006-D68538D4B71F}"/>
              </a:ext>
            </a:extLst>
          </p:cNvPr>
          <p:cNvSpPr>
            <a:spLocks noGrp="1"/>
          </p:cNvSpPr>
          <p:nvPr>
            <p:ph type="body" sz="quarter" idx="3"/>
          </p:nvPr>
        </p:nvSpPr>
        <p:spPr>
          <a:xfrm>
            <a:off x="6257120" y="2500921"/>
            <a:ext cx="5372551" cy="823912"/>
          </a:xfrm>
        </p:spPr>
        <p:txBody>
          <a:bodyPr anchor="b"/>
          <a:lstStyle>
            <a:lvl1pPr marL="0" indent="0">
              <a:buNone/>
              <a:defRPr lang="en-US" sz="2400" b="0" i="1" kern="120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CA329-951F-4391-ADC5-7EA320B7782F}"/>
              </a:ext>
            </a:extLst>
          </p:cNvPr>
          <p:cNvSpPr>
            <a:spLocks noGrp="1"/>
          </p:cNvSpPr>
          <p:nvPr>
            <p:ph sz="quarter" idx="4"/>
          </p:nvPr>
        </p:nvSpPr>
        <p:spPr>
          <a:xfrm>
            <a:off x="6257120" y="3428999"/>
            <a:ext cx="5372551"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BEC22A-DA46-460C-B865-D928C20AE763}"/>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8" name="Footer Placeholder 7">
            <a:extLst>
              <a:ext uri="{FF2B5EF4-FFF2-40B4-BE49-F238E27FC236}">
                <a16:creationId xmlns:a16="http://schemas.microsoft.com/office/drawing/2014/main" id="{4EB2D647-42C5-4AB7-BB71-3A44065716E7}"/>
              </a:ext>
            </a:extLst>
          </p:cNvPr>
          <p:cNvSpPr>
            <a:spLocks noGrp="1"/>
          </p:cNvSpPr>
          <p:nvPr>
            <p:ph type="ftr" sz="quarter" idx="11"/>
          </p:nvPr>
        </p:nvSpPr>
        <p:spPr>
          <a:xfrm>
            <a:off x="484632" y="6419088"/>
            <a:ext cx="4114800" cy="365125"/>
          </a:xfrm>
        </p:spPr>
        <p:txBody>
          <a:bodyPr/>
          <a:lstStyle/>
          <a:p>
            <a:endParaRPr lang="en-US"/>
          </a:p>
        </p:txBody>
      </p:sp>
      <p:sp>
        <p:nvSpPr>
          <p:cNvPr id="9" name="Slide Number Placeholder 8">
            <a:extLst>
              <a:ext uri="{FF2B5EF4-FFF2-40B4-BE49-F238E27FC236}">
                <a16:creationId xmlns:a16="http://schemas.microsoft.com/office/drawing/2014/main" id="{590B2B67-714C-46DA-85E5-598B4244D3B0}"/>
              </a:ext>
            </a:extLst>
          </p:cNvPr>
          <p:cNvSpPr>
            <a:spLocks noGrp="1"/>
          </p:cNvSpPr>
          <p:nvPr>
            <p:ph type="sldNum" sz="quarter" idx="12"/>
          </p:nvPr>
        </p:nvSpPr>
        <p:spPr>
          <a:xfrm>
            <a:off x="10989591" y="-7190"/>
            <a:ext cx="640080" cy="365125"/>
          </a:xfrm>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467693523"/>
      </p:ext>
    </p:extLst>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D4B6724-AB30-4E7C-BE2B-ECD94FF1B463}"/>
              </a:ext>
              <a:ext uri="{C183D7F6-B498-43B3-948B-1728B52AA6E4}">
                <adec:decorative xmlns:adec="http://schemas.microsoft.com/office/drawing/2017/decorative" val="1"/>
              </a:ext>
            </a:extLst>
          </p:cNvPr>
          <p:cNvSpPr/>
          <p:nvPr/>
        </p:nvSpPr>
        <p:spPr>
          <a:xfrm>
            <a:off x="481007" y="3933311"/>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1D4BAB-2678-4A19-A575-C47CAF1446E5}"/>
              </a:ext>
            </a:extLst>
          </p:cNvPr>
          <p:cNvSpPr>
            <a:spLocks noGrp="1"/>
          </p:cNvSpPr>
          <p:nvPr>
            <p:ph type="title"/>
          </p:nvPr>
        </p:nvSpPr>
        <p:spPr>
          <a:xfrm>
            <a:off x="482600" y="978408"/>
            <a:ext cx="10634472" cy="2591509"/>
          </a:xfrm>
          <a:prstGeom prst="rect">
            <a:avLst/>
          </a:prstGeom>
        </p:spPr>
        <p:txBody>
          <a:bodyPr anchor="b"/>
          <a:lstStyle/>
          <a:p>
            <a:r>
              <a:rPr lang="en-US"/>
              <a:t>Click to edit Master title style</a:t>
            </a:r>
            <a:endParaRPr lang="en-US" dirty="0"/>
          </a:p>
        </p:txBody>
      </p:sp>
      <p:sp>
        <p:nvSpPr>
          <p:cNvPr id="3" name="Date Placeholder 2">
            <a:extLst>
              <a:ext uri="{FF2B5EF4-FFF2-40B4-BE49-F238E27FC236}">
                <a16:creationId xmlns:a16="http://schemas.microsoft.com/office/drawing/2014/main" id="{4047C89E-0ABD-4FD2-924C-894345ADFED8}"/>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4" name="Footer Placeholder 3">
            <a:extLst>
              <a:ext uri="{FF2B5EF4-FFF2-40B4-BE49-F238E27FC236}">
                <a16:creationId xmlns:a16="http://schemas.microsoft.com/office/drawing/2014/main" id="{553026CE-9CC8-403B-88B1-184D16532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B3D616-3C18-401B-A792-E75149FDFC47}"/>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7" name="Straight Connector 6">
            <a:extLst>
              <a:ext uri="{FF2B5EF4-FFF2-40B4-BE49-F238E27FC236}">
                <a16:creationId xmlns:a16="http://schemas.microsoft.com/office/drawing/2014/main" id="{04EC6F70-D800-4067-A36A-5BBFC8018E2D}"/>
              </a:ext>
              <a:ext uri="{C183D7F6-B498-43B3-948B-1728B52AA6E4}">
                <adec:decorative xmlns:adec="http://schemas.microsoft.com/office/drawing/2017/decorative" val="1"/>
              </a:ext>
            </a:extLst>
          </p:cNvPr>
          <p:cNvCxnSpPr>
            <a:cxnSpLocks/>
          </p:cNvCxnSpPr>
          <p:nvPr/>
        </p:nvCxnSpPr>
        <p:spPr>
          <a:xfrm>
            <a:off x="482600" y="393331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2B66CB6-8988-4FBA-8524-726765A5F2AA}"/>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02638897"/>
      </p:ext>
    </p:extLst>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73F84-0C6B-4EF4-9405-C389824999D4}"/>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3" name="Footer Placeholder 2">
            <a:extLst>
              <a:ext uri="{FF2B5EF4-FFF2-40B4-BE49-F238E27FC236}">
                <a16:creationId xmlns:a16="http://schemas.microsoft.com/office/drawing/2014/main" id="{DCCEC807-744E-4C5C-8B15-09AED3E57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BCB19-9F4B-474C-85C1-4A645A971827}"/>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752571414"/>
      </p:ext>
    </p:extLst>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88B0-DD6B-449B-AE32-D3192081E76F}"/>
              </a:ext>
            </a:extLst>
          </p:cNvPr>
          <p:cNvSpPr>
            <a:spLocks noGrp="1"/>
          </p:cNvSpPr>
          <p:nvPr>
            <p:ph type="title"/>
          </p:nvPr>
        </p:nvSpPr>
        <p:spPr>
          <a:xfrm>
            <a:off x="484632" y="978408"/>
            <a:ext cx="4287393" cy="2450592"/>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F22ED6-5B69-4B3B-BF96-3A75F2107FA6}"/>
              </a:ext>
            </a:extLst>
          </p:cNvPr>
          <p:cNvSpPr>
            <a:spLocks noGrp="1"/>
          </p:cNvSpPr>
          <p:nvPr>
            <p:ph idx="1"/>
          </p:nvPr>
        </p:nvSpPr>
        <p:spPr>
          <a:xfrm>
            <a:off x="5183187" y="987425"/>
            <a:ext cx="644648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7704043-D45F-440A-A15D-2718A913E05A}"/>
              </a:ext>
            </a:extLst>
          </p:cNvPr>
          <p:cNvSpPr>
            <a:spLocks noGrp="1"/>
          </p:cNvSpPr>
          <p:nvPr>
            <p:ph type="body" sz="half" idx="2"/>
          </p:nvPr>
        </p:nvSpPr>
        <p:spPr>
          <a:xfrm>
            <a:off x="484632" y="3645074"/>
            <a:ext cx="4287393" cy="2223914"/>
          </a:xfrm>
        </p:spPr>
        <p:txBody>
          <a:bodyPr/>
          <a:lstStyle>
            <a:lvl1pPr marL="0" indent="0">
              <a:buNone/>
              <a:defRPr lang="en-US" sz="2400" i="1"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072DC-7326-43E7-806C-B690C439E8A8}"/>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6" name="Footer Placeholder 5">
            <a:extLst>
              <a:ext uri="{FF2B5EF4-FFF2-40B4-BE49-F238E27FC236}">
                <a16:creationId xmlns:a16="http://schemas.microsoft.com/office/drawing/2014/main" id="{73F89A0F-B8C6-4AA6-A9C4-4A454F422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7A616-A4F2-4FC5-88DE-B4E6BA542895}"/>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496206056"/>
      </p:ext>
    </p:extLst>
  </p:cSld>
  <p:clrMapOvr>
    <a:masterClrMapping/>
  </p:clrMapOvr>
  <p:transition spd="med">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773D-D007-4687-BA9C-9F229829B5EF}"/>
              </a:ext>
            </a:extLst>
          </p:cNvPr>
          <p:cNvSpPr>
            <a:spLocks noGrp="1"/>
          </p:cNvSpPr>
          <p:nvPr>
            <p:ph type="title"/>
          </p:nvPr>
        </p:nvSpPr>
        <p:spPr>
          <a:xfrm>
            <a:off x="484632" y="978407"/>
            <a:ext cx="4287393" cy="2450593"/>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A3A75FC-78D2-4EF5-884F-11B7BACF799A}"/>
              </a:ext>
            </a:extLst>
          </p:cNvPr>
          <p:cNvSpPr>
            <a:spLocks noGrp="1"/>
          </p:cNvSpPr>
          <p:nvPr>
            <p:ph type="pic" idx="1"/>
          </p:nvPr>
        </p:nvSpPr>
        <p:spPr>
          <a:xfrm>
            <a:off x="5183187" y="987425"/>
            <a:ext cx="644648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D7CE0BB-D335-4391-A23F-194C575CAF8F}"/>
              </a:ext>
            </a:extLst>
          </p:cNvPr>
          <p:cNvSpPr>
            <a:spLocks noGrp="1"/>
          </p:cNvSpPr>
          <p:nvPr>
            <p:ph type="body" sz="half" idx="2"/>
          </p:nvPr>
        </p:nvSpPr>
        <p:spPr>
          <a:xfrm>
            <a:off x="484632" y="3645074"/>
            <a:ext cx="4287393" cy="2223914"/>
          </a:xfrm>
        </p:spPr>
        <p:txBody>
          <a:bodyPr/>
          <a:lstStyle>
            <a:lvl1pPr marL="0" indent="0">
              <a:buNone/>
              <a:defRPr lang="en-US" sz="240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701E1-B97B-4DA5-B9AD-07B7C12476AE}"/>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6" name="Footer Placeholder 5">
            <a:extLst>
              <a:ext uri="{FF2B5EF4-FFF2-40B4-BE49-F238E27FC236}">
                <a16:creationId xmlns:a16="http://schemas.microsoft.com/office/drawing/2014/main" id="{076D9CF8-F42F-4618-9F26-8BFE56487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A2023-1ECA-4A96-BDC7-F7FA4368BE1B}"/>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868554920"/>
      </p:ext>
    </p:extLst>
  </p:cSld>
  <p:clrMapOvr>
    <a:masterClrMapping/>
  </p:clrMapOvr>
  <p:transition spd="med">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999A10-4355-4A13-B008-196B21ABEEAF}"/>
              </a:ext>
              <a:ext uri="{C183D7F6-B498-43B3-948B-1728B52AA6E4}">
                <adec:decorative xmlns:adec="http://schemas.microsoft.com/office/drawing/2017/decorative" val="1"/>
              </a:ext>
            </a:extLst>
          </p:cNvPr>
          <p:cNvSpPr/>
          <p:nvPr/>
        </p:nvSpPr>
        <p:spPr>
          <a:xfrm>
            <a:off x="482600" y="483576"/>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6D448-AFEA-4483-B0E4-002840525CDD}"/>
              </a:ext>
            </a:extLst>
          </p:cNvPr>
          <p:cNvSpPr>
            <a:spLocks noGrp="1"/>
          </p:cNvSpPr>
          <p:nvPr>
            <p:ph type="title"/>
          </p:nvPr>
        </p:nvSpPr>
        <p:spPr>
          <a:xfrm>
            <a:off x="482600" y="978408"/>
            <a:ext cx="10506991" cy="1755263"/>
          </a:xfrm>
          <a:prstGeom prst="rect">
            <a:avLst/>
          </a:prstGeo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F216234-4516-4303-8F60-A8127D89A5E5}"/>
              </a:ext>
            </a:extLst>
          </p:cNvPr>
          <p:cNvSpPr>
            <a:spLocks noGrp="1"/>
          </p:cNvSpPr>
          <p:nvPr>
            <p:ph type="body" orient="vert" idx="1"/>
          </p:nvPr>
        </p:nvSpPr>
        <p:spPr>
          <a:xfrm>
            <a:off x="484192" y="3103131"/>
            <a:ext cx="10506991" cy="30929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6B5D50-A474-462B-A807-DF186B1C2F48}"/>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F8BF1DAF-2E2D-46ED-AA3E-3D2FE4039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771-EB13-4EB5-A0A2-3968C6ABBD4E}"/>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8" name="Straight Connector 7">
            <a:extLst>
              <a:ext uri="{FF2B5EF4-FFF2-40B4-BE49-F238E27FC236}">
                <a16:creationId xmlns:a16="http://schemas.microsoft.com/office/drawing/2014/main" id="{B3B596B8-8230-4695-8D76-F06AFA8156C3}"/>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EBF93-5FD9-4F4E-8485-7B937145CD0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3464076"/>
      </p:ext>
    </p:extLst>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6B4D06-C7C6-4949-8EB2-F03ED999A2BB}"/>
              </a:ext>
            </a:extLst>
          </p:cNvPr>
          <p:cNvSpPr>
            <a:spLocks noGrp="1"/>
          </p:cNvSpPr>
          <p:nvPr>
            <p:ph type="title" orient="vert"/>
          </p:nvPr>
        </p:nvSpPr>
        <p:spPr>
          <a:xfrm>
            <a:off x="8041710" y="978408"/>
            <a:ext cx="2947881" cy="5124777"/>
          </a:xfrm>
          <a:prstGeom prst="rect">
            <a:avLst/>
          </a:prstGeo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C921B9D-8C11-4176-AF22-89F972E21284}"/>
              </a:ext>
            </a:extLst>
          </p:cNvPr>
          <p:cNvSpPr>
            <a:spLocks noGrp="1"/>
          </p:cNvSpPr>
          <p:nvPr>
            <p:ph type="body" orient="vert" idx="1"/>
          </p:nvPr>
        </p:nvSpPr>
        <p:spPr>
          <a:xfrm>
            <a:off x="484632" y="978408"/>
            <a:ext cx="7256453" cy="512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AFA9E1C-8E18-4A35-9BD8-427B1D14BB8E}"/>
              </a:ext>
            </a:extLst>
          </p:cNvPr>
          <p:cNvSpPr>
            <a:spLocks noGrp="1"/>
          </p:cNvSpPr>
          <p:nvPr>
            <p:ph type="dt" sz="half" idx="10"/>
          </p:nvPr>
        </p:nvSpPr>
        <p:spPr/>
        <p:txBody>
          <a:bodyPr/>
          <a:lstStyle/>
          <a:p>
            <a:fld id="{81B8F32D-D8B6-4B9E-9CBF-DCAC30B7B93D}" type="datetimeFigureOut">
              <a:rPr lang="en-US" smtClean="0"/>
              <a:t>11/12/2025</a:t>
            </a:fld>
            <a:endParaRPr lang="en-US"/>
          </a:p>
        </p:txBody>
      </p:sp>
      <p:sp>
        <p:nvSpPr>
          <p:cNvPr id="5" name="Footer Placeholder 4">
            <a:extLst>
              <a:ext uri="{FF2B5EF4-FFF2-40B4-BE49-F238E27FC236}">
                <a16:creationId xmlns:a16="http://schemas.microsoft.com/office/drawing/2014/main" id="{2E116CDB-7BB6-4DD2-A626-6DA8E569F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0403B-439E-449F-83B1-799EEC239A2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4292149039"/>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7A535-3CAC-46BC-B2B2-3AE83EC3A561}"/>
              </a:ext>
            </a:extLst>
          </p:cNvPr>
          <p:cNvSpPr>
            <a:spLocks noGrp="1"/>
          </p:cNvSpPr>
          <p:nvPr>
            <p:ph type="title"/>
          </p:nvPr>
        </p:nvSpPr>
        <p:spPr>
          <a:xfrm>
            <a:off x="482600" y="978408"/>
            <a:ext cx="10506991" cy="215309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D8EBDBD-59EC-46ED-BE79-6D37B531D692}"/>
              </a:ext>
            </a:extLst>
          </p:cNvPr>
          <p:cNvSpPr>
            <a:spLocks noGrp="1"/>
          </p:cNvSpPr>
          <p:nvPr>
            <p:ph type="body" idx="1"/>
          </p:nvPr>
        </p:nvSpPr>
        <p:spPr>
          <a:xfrm>
            <a:off x="482600" y="3306870"/>
            <a:ext cx="10506991" cy="257272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5921F5C-FD3D-42C7-90F4-5ECE6FFCFE7F}"/>
              </a:ext>
            </a:extLst>
          </p:cNvPr>
          <p:cNvSpPr>
            <a:spLocks noGrp="1"/>
          </p:cNvSpPr>
          <p:nvPr>
            <p:ph type="dt" sz="half" idx="2"/>
          </p:nvPr>
        </p:nvSpPr>
        <p:spPr>
          <a:xfrm>
            <a:off x="484632" y="100584"/>
            <a:ext cx="2743200" cy="365125"/>
          </a:xfrm>
          <a:prstGeom prst="rect">
            <a:avLst/>
          </a:prstGeom>
        </p:spPr>
        <p:txBody>
          <a:bodyPr vert="horz" lIns="91440" tIns="45720" rIns="91440" bIns="45720" rtlCol="0" anchor="ctr"/>
          <a:lstStyle>
            <a:lvl1pPr algn="l">
              <a:defRPr sz="900">
                <a:solidFill>
                  <a:schemeClr val="tx1"/>
                </a:solidFill>
              </a:defRPr>
            </a:lvl1pPr>
          </a:lstStyle>
          <a:p>
            <a:fld id="{81B8F32D-D8B6-4B9E-9CBF-DCAC30B7B93D}" type="datetimeFigureOut">
              <a:rPr lang="en-US" smtClean="0"/>
              <a:pPr/>
              <a:t>11/12/2025</a:t>
            </a:fld>
            <a:endParaRPr lang="en-US" dirty="0"/>
          </a:p>
        </p:txBody>
      </p:sp>
      <p:sp>
        <p:nvSpPr>
          <p:cNvPr id="5" name="Footer Placeholder 4">
            <a:extLst>
              <a:ext uri="{FF2B5EF4-FFF2-40B4-BE49-F238E27FC236}">
                <a16:creationId xmlns:a16="http://schemas.microsoft.com/office/drawing/2014/main" id="{0FE63D50-6D0B-4963-97B9-A32AE63235B8}"/>
              </a:ext>
            </a:extLst>
          </p:cNvPr>
          <p:cNvSpPr>
            <a:spLocks noGrp="1"/>
          </p:cNvSpPr>
          <p:nvPr>
            <p:ph type="ftr" sz="quarter" idx="3"/>
          </p:nvPr>
        </p:nvSpPr>
        <p:spPr>
          <a:xfrm>
            <a:off x="484632" y="6419088"/>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6B5E08-CAC3-4C87-B143-5F8956AE905D}"/>
              </a:ext>
            </a:extLst>
          </p:cNvPr>
          <p:cNvSpPr>
            <a:spLocks noGrp="1"/>
          </p:cNvSpPr>
          <p:nvPr>
            <p:ph type="sldNum" sz="quarter" idx="4"/>
          </p:nvPr>
        </p:nvSpPr>
        <p:spPr>
          <a:xfrm>
            <a:off x="10989591" y="100584"/>
            <a:ext cx="640080" cy="365125"/>
          </a:xfrm>
          <a:prstGeom prst="rect">
            <a:avLst/>
          </a:prstGeom>
        </p:spPr>
        <p:txBody>
          <a:bodyPr vert="horz" lIns="91440" tIns="45720" rIns="91440" bIns="45720" rtlCol="0" anchor="ctr"/>
          <a:lstStyle>
            <a:lvl1pPr algn="r">
              <a:defRPr sz="900">
                <a:solidFill>
                  <a:schemeClr val="tx1"/>
                </a:solidFill>
              </a:defRPr>
            </a:lvl1pPr>
          </a:lstStyle>
          <a:p>
            <a:fld id="{60553ECD-7F6D-420D-93CA-D8D15EB427AC}" type="slidenum">
              <a:rPr lang="en-US" smtClean="0"/>
              <a:pPr/>
              <a:t>‹#›</a:t>
            </a:fld>
            <a:endParaRPr lang="en-US" dirty="0"/>
          </a:p>
        </p:txBody>
      </p:sp>
      <p:cxnSp>
        <p:nvCxnSpPr>
          <p:cNvPr id="8" name="Straight Connector 7">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6730596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spd="med">
    <p:pull/>
  </p:transition>
  <p:txStyles>
    <p:titleStyle>
      <a:lvl1pPr algn="l" defTabSz="914400" rtl="0" eaLnBrk="1" latinLnBrk="0" hangingPunct="1">
        <a:lnSpc>
          <a:spcPct val="100000"/>
        </a:lnSpc>
        <a:spcBef>
          <a:spcPct val="0"/>
        </a:spcBef>
        <a:buNone/>
        <a:defRPr sz="66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EA7E347D-B32A-4759-B7FF-FD25A9AEE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48" y="-17141"/>
            <a:ext cx="12188952" cy="6875141"/>
          </a:xfrm>
          <a:custGeom>
            <a:avLst/>
            <a:gdLst>
              <a:gd name="connsiteX0" fmla="*/ 1488154 w 12188952"/>
              <a:gd name="connsiteY0" fmla="*/ 3508108 h 6875141"/>
              <a:gd name="connsiteX1" fmla="*/ 1292116 w 12188952"/>
              <a:gd name="connsiteY1" fmla="*/ 3704145 h 6875141"/>
              <a:gd name="connsiteX2" fmla="*/ 1488154 w 12188952"/>
              <a:gd name="connsiteY2" fmla="*/ 3900182 h 6875141"/>
              <a:gd name="connsiteX3" fmla="*/ 1684192 w 12188952"/>
              <a:gd name="connsiteY3" fmla="*/ 3704145 h 6875141"/>
              <a:gd name="connsiteX4" fmla="*/ 1488154 w 12188952"/>
              <a:gd name="connsiteY4" fmla="*/ 3508108 h 6875141"/>
              <a:gd name="connsiteX5" fmla="*/ 12188951 w 12188952"/>
              <a:gd name="connsiteY5" fmla="*/ 3213837 h 6875141"/>
              <a:gd name="connsiteX6" fmla="*/ 11900948 w 12188952"/>
              <a:gd name="connsiteY6" fmla="*/ 3213837 h 6875141"/>
              <a:gd name="connsiteX7" fmla="*/ 10063117 w 12188952"/>
              <a:gd name="connsiteY7" fmla="*/ 5051668 h 6875141"/>
              <a:gd name="connsiteX8" fmla="*/ 10063117 w 12188952"/>
              <a:gd name="connsiteY8" fmla="*/ 6875141 h 6875141"/>
              <a:gd name="connsiteX9" fmla="*/ 12073153 w 12188952"/>
              <a:gd name="connsiteY9" fmla="*/ 6875141 h 6875141"/>
              <a:gd name="connsiteX10" fmla="*/ 12083467 w 12188952"/>
              <a:gd name="connsiteY10" fmla="*/ 6874620 h 6875141"/>
              <a:gd name="connsiteX11" fmla="*/ 12188951 w 12188952"/>
              <a:gd name="connsiteY11" fmla="*/ 6858522 h 6875141"/>
              <a:gd name="connsiteX12" fmla="*/ 12188951 w 12188952"/>
              <a:gd name="connsiteY12" fmla="*/ 6280730 h 6875141"/>
              <a:gd name="connsiteX13" fmla="*/ 12188952 w 12188952"/>
              <a:gd name="connsiteY13" fmla="*/ 6280729 h 6875141"/>
              <a:gd name="connsiteX14" fmla="*/ 12188952 w 12188952"/>
              <a:gd name="connsiteY14" fmla="*/ 3832194 h 6875141"/>
              <a:gd name="connsiteX15" fmla="*/ 12188951 w 12188952"/>
              <a:gd name="connsiteY15" fmla="*/ 3832194 h 6875141"/>
              <a:gd name="connsiteX16" fmla="*/ 0 w 12188952"/>
              <a:gd name="connsiteY16" fmla="*/ 2798382 h 6875141"/>
              <a:gd name="connsiteX17" fmla="*/ 0 w 12188952"/>
              <a:gd name="connsiteY17" fmla="*/ 4217834 h 6875141"/>
              <a:gd name="connsiteX18" fmla="*/ 10291 w 12188952"/>
              <a:gd name="connsiteY18" fmla="*/ 4210345 h 6875141"/>
              <a:gd name="connsiteX19" fmla="*/ 460407 w 12188952"/>
              <a:gd name="connsiteY19" fmla="*/ 3508108 h 6875141"/>
              <a:gd name="connsiteX20" fmla="*/ 10291 w 12188952"/>
              <a:gd name="connsiteY20" fmla="*/ 2805871 h 6875141"/>
              <a:gd name="connsiteX21" fmla="*/ 11563230 w 12188952"/>
              <a:gd name="connsiteY21" fmla="*/ 603215 h 6875141"/>
              <a:gd name="connsiteX22" fmla="*/ 11381044 w 12188952"/>
              <a:gd name="connsiteY22" fmla="*/ 620944 h 6875141"/>
              <a:gd name="connsiteX23" fmla="*/ 11546600 w 12188952"/>
              <a:gd name="connsiteY23" fmla="*/ 1418331 h 6875141"/>
              <a:gd name="connsiteX24" fmla="*/ 12161801 w 12188952"/>
              <a:gd name="connsiteY24" fmla="*/ 1601617 h 6875141"/>
              <a:gd name="connsiteX25" fmla="*/ 12185891 w 12188952"/>
              <a:gd name="connsiteY25" fmla="*/ 1600043 h 6875141"/>
              <a:gd name="connsiteX26" fmla="*/ 12185891 w 12188952"/>
              <a:gd name="connsiteY26" fmla="*/ 795119 h 6875141"/>
              <a:gd name="connsiteX27" fmla="*/ 12178431 w 12188952"/>
              <a:gd name="connsiteY27" fmla="*/ 786500 h 6875141"/>
              <a:gd name="connsiteX28" fmla="*/ 11563230 w 12188952"/>
              <a:gd name="connsiteY28" fmla="*/ 603215 h 6875141"/>
              <a:gd name="connsiteX29" fmla="*/ 1368216 w 12188952"/>
              <a:gd name="connsiteY29" fmla="*/ 0 h 6875141"/>
              <a:gd name="connsiteX30" fmla="*/ 0 w 12188952"/>
              <a:gd name="connsiteY30" fmla="*/ 0 h 6875141"/>
              <a:gd name="connsiteX31" fmla="*/ 0 w 12188952"/>
              <a:gd name="connsiteY31" fmla="*/ 1368215 h 6875141"/>
              <a:gd name="connsiteX32" fmla="*/ 1372241 w 12188952"/>
              <a:gd name="connsiteY32" fmla="*/ 2740456 h 6875141"/>
              <a:gd name="connsiteX33" fmla="*/ 2740456 w 12188952"/>
              <a:gd name="connsiteY33" fmla="*/ 2740456 h 6875141"/>
              <a:gd name="connsiteX34" fmla="*/ 2740456 w 12188952"/>
              <a:gd name="connsiteY34" fmla="*/ 1372240 h 6875141"/>
              <a:gd name="connsiteX35" fmla="*/ 1368216 w 12188952"/>
              <a:gd name="connsiteY35" fmla="*/ 0 h 6875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8952" h="6875141">
                <a:moveTo>
                  <a:pt x="1488154" y="3508108"/>
                </a:moveTo>
                <a:cubicBezTo>
                  <a:pt x="1379885" y="3508108"/>
                  <a:pt x="1292116" y="3595877"/>
                  <a:pt x="1292116" y="3704145"/>
                </a:cubicBezTo>
                <a:cubicBezTo>
                  <a:pt x="1292116" y="3812413"/>
                  <a:pt x="1379885" y="3900182"/>
                  <a:pt x="1488154" y="3900182"/>
                </a:cubicBezTo>
                <a:cubicBezTo>
                  <a:pt x="1596423" y="3900182"/>
                  <a:pt x="1684192" y="3812413"/>
                  <a:pt x="1684192" y="3704145"/>
                </a:cubicBezTo>
                <a:cubicBezTo>
                  <a:pt x="1684192" y="3595877"/>
                  <a:pt x="1596423" y="3508108"/>
                  <a:pt x="1488154" y="3508108"/>
                </a:cubicBezTo>
                <a:close/>
                <a:moveTo>
                  <a:pt x="12188951" y="3213837"/>
                </a:moveTo>
                <a:lnTo>
                  <a:pt x="11900948" y="3213837"/>
                </a:lnTo>
                <a:cubicBezTo>
                  <a:pt x="10885931" y="3213837"/>
                  <a:pt x="10063117" y="4036651"/>
                  <a:pt x="10063117" y="5051668"/>
                </a:cubicBezTo>
                <a:lnTo>
                  <a:pt x="10063117" y="6875141"/>
                </a:lnTo>
                <a:lnTo>
                  <a:pt x="12073153" y="6875141"/>
                </a:lnTo>
                <a:lnTo>
                  <a:pt x="12083467" y="6874620"/>
                </a:lnTo>
                <a:lnTo>
                  <a:pt x="12188951" y="6858522"/>
                </a:lnTo>
                <a:lnTo>
                  <a:pt x="12188951" y="6280730"/>
                </a:lnTo>
                <a:lnTo>
                  <a:pt x="12188952" y="6280729"/>
                </a:lnTo>
                <a:lnTo>
                  <a:pt x="12188952" y="3832194"/>
                </a:lnTo>
                <a:lnTo>
                  <a:pt x="12188951" y="3832194"/>
                </a:lnTo>
                <a:close/>
                <a:moveTo>
                  <a:pt x="0" y="2798382"/>
                </a:moveTo>
                <a:lnTo>
                  <a:pt x="0" y="4217834"/>
                </a:lnTo>
                <a:lnTo>
                  <a:pt x="10291" y="4210345"/>
                </a:lnTo>
                <a:cubicBezTo>
                  <a:pt x="100314" y="4143505"/>
                  <a:pt x="460407" y="3854496"/>
                  <a:pt x="460407" y="3508108"/>
                </a:cubicBezTo>
                <a:cubicBezTo>
                  <a:pt x="460407" y="3161721"/>
                  <a:pt x="100314" y="2872711"/>
                  <a:pt x="10291" y="2805871"/>
                </a:cubicBezTo>
                <a:close/>
                <a:moveTo>
                  <a:pt x="11563230" y="603215"/>
                </a:moveTo>
                <a:cubicBezTo>
                  <a:pt x="11455784" y="606833"/>
                  <a:pt x="11381044" y="620944"/>
                  <a:pt x="11381044" y="620944"/>
                </a:cubicBezTo>
                <a:cubicBezTo>
                  <a:pt x="11381044" y="620944"/>
                  <a:pt x="11280695" y="1152426"/>
                  <a:pt x="11546600" y="1418331"/>
                </a:cubicBezTo>
                <a:cubicBezTo>
                  <a:pt x="11712792" y="1584523"/>
                  <a:pt x="11982723" y="1607645"/>
                  <a:pt x="12161801" y="1601617"/>
                </a:cubicBezTo>
                <a:lnTo>
                  <a:pt x="12185891" y="1600043"/>
                </a:lnTo>
                <a:lnTo>
                  <a:pt x="12185891" y="795119"/>
                </a:lnTo>
                <a:lnTo>
                  <a:pt x="12178431" y="786500"/>
                </a:lnTo>
                <a:cubicBezTo>
                  <a:pt x="12012240" y="620309"/>
                  <a:pt x="11742309" y="597187"/>
                  <a:pt x="11563230" y="603215"/>
                </a:cubicBezTo>
                <a:close/>
                <a:moveTo>
                  <a:pt x="1368216" y="0"/>
                </a:moveTo>
                <a:lnTo>
                  <a:pt x="0" y="0"/>
                </a:lnTo>
                <a:lnTo>
                  <a:pt x="0" y="1368215"/>
                </a:lnTo>
                <a:cubicBezTo>
                  <a:pt x="0" y="2126091"/>
                  <a:pt x="614365" y="2740456"/>
                  <a:pt x="1372241" y="2740456"/>
                </a:cubicBezTo>
                <a:lnTo>
                  <a:pt x="2740456" y="2740456"/>
                </a:lnTo>
                <a:lnTo>
                  <a:pt x="2740456" y="1372240"/>
                </a:lnTo>
                <a:cubicBezTo>
                  <a:pt x="2740456" y="614365"/>
                  <a:pt x="2126092" y="0"/>
                  <a:pt x="1368216" y="0"/>
                </a:cubicBezTo>
                <a:close/>
              </a:path>
            </a:pathLst>
          </a:custGeom>
          <a:blipFill dpi="0" rotWithShape="1">
            <a:blip r:embed="rId2">
              <a:alphaModFix amt="6000"/>
            </a:blip>
            <a:srcRect/>
            <a:tile tx="0" ty="0" sx="100000" sy="100000" flip="none" algn="tl"/>
          </a:blipFill>
          <a:ln w="9525" cap="flat">
            <a:noFill/>
            <a:prstDash val="solid"/>
            <a:miter/>
          </a:ln>
        </p:spPr>
        <p:txBody>
          <a:bodyPr rtlCol="0" anchor="ctr"/>
          <a:lstStyle/>
          <a:p>
            <a:endParaRPr lang="en-US" dirty="0"/>
          </a:p>
        </p:txBody>
      </p:sp>
      <p:sp useBgFill="1">
        <p:nvSpPr>
          <p:cNvPr id="21" name="Background Fill">
            <a:extLst>
              <a:ext uri="{FF2B5EF4-FFF2-40B4-BE49-F238E27FC236}">
                <a16:creationId xmlns:a16="http://schemas.microsoft.com/office/drawing/2014/main" id="{681F9FCB-1E38-43E9-8567-6292F4842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9525" cap="flat">
            <a:noFill/>
            <a:prstDash val="solid"/>
            <a:miter/>
          </a:ln>
        </p:spPr>
        <p:txBody>
          <a:bodyPr rtlCol="0" anchor="ctr"/>
          <a:lstStyle/>
          <a:p>
            <a:endParaRPr lang="en-US">
              <a:solidFill>
                <a:schemeClr val="tx1"/>
              </a:solidFill>
            </a:endParaRPr>
          </a:p>
        </p:txBody>
      </p:sp>
      <p:pic>
        <p:nvPicPr>
          <p:cNvPr id="7" name="Picture 2" descr="A person reaching for a paper on a table full of paper and sticky notes">
            <a:extLst>
              <a:ext uri="{FF2B5EF4-FFF2-40B4-BE49-F238E27FC236}">
                <a16:creationId xmlns:a16="http://schemas.microsoft.com/office/drawing/2014/main" id="{83FAF377-CBEA-0ABA-877F-43508CC31EFF}"/>
              </a:ext>
            </a:extLst>
          </p:cNvPr>
          <p:cNvPicPr>
            <a:picLocks noChangeAspect="1"/>
          </p:cNvPicPr>
          <p:nvPr/>
        </p:nvPicPr>
        <p:blipFill rotWithShape="1">
          <a:blip r:embed="rId3">
            <a:alphaModFix/>
          </a:blip>
          <a:srcRect t="8136" r="-1" b="7572"/>
          <a:stretch/>
        </p:blipFill>
        <p:spPr>
          <a:xfrm>
            <a:off x="20" y="10"/>
            <a:ext cx="12188932" cy="6857990"/>
          </a:xfrm>
          <a:prstGeom prst="rect">
            <a:avLst/>
          </a:prstGeom>
        </p:spPr>
      </p:pic>
      <p:sp>
        <p:nvSpPr>
          <p:cNvPr id="23" name="Rectangle 22">
            <a:extLst>
              <a:ext uri="{FF2B5EF4-FFF2-40B4-BE49-F238E27FC236}">
                <a16:creationId xmlns:a16="http://schemas.microsoft.com/office/drawing/2014/main" id="{E687037D-D197-4CDD-BB5E-43AEE9E534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82599" y="1045028"/>
            <a:ext cx="6717129" cy="2013995"/>
          </a:xfrm>
        </p:spPr>
        <p:txBody>
          <a:bodyPr anchor="b">
            <a:normAutofit/>
          </a:bodyPr>
          <a:lstStyle/>
          <a:p>
            <a:pPr>
              <a:lnSpc>
                <a:spcPct val="90000"/>
              </a:lnSpc>
            </a:pPr>
            <a:r>
              <a:rPr lang="en-GB" sz="3100" b="1" dirty="0">
                <a:solidFill>
                  <a:srgbClr val="FFFFFF"/>
                </a:solidFill>
                <a:cs typeface="Calibri Light"/>
              </a:rPr>
              <a:t>Presentation on</a:t>
            </a:r>
            <a:br>
              <a:rPr lang="en-GB" sz="3100" b="1" dirty="0">
                <a:cs typeface="Calibri Light"/>
              </a:rPr>
            </a:br>
            <a:r>
              <a:rPr lang="en-GB" sz="3100" b="1" dirty="0">
                <a:solidFill>
                  <a:srgbClr val="FFFFFF"/>
                </a:solidFill>
                <a:cs typeface="Calibri Light"/>
              </a:rPr>
              <a:t>Strategic Management and Project Selection</a:t>
            </a:r>
            <a:br>
              <a:rPr lang="en-GB" sz="3100" b="1" dirty="0">
                <a:cs typeface="Calibri Light"/>
              </a:rPr>
            </a:br>
            <a:endParaRPr lang="en-GB" sz="3100" b="1">
              <a:solidFill>
                <a:srgbClr val="FFFFFF"/>
              </a:solidFill>
            </a:endParaRPr>
          </a:p>
        </p:txBody>
      </p:sp>
      <p:cxnSp>
        <p:nvCxnSpPr>
          <p:cNvPr id="25" name="Straight Connector 24">
            <a:extLst>
              <a:ext uri="{FF2B5EF4-FFF2-40B4-BE49-F238E27FC236}">
                <a16:creationId xmlns:a16="http://schemas.microsoft.com/office/drawing/2014/main" id="{50E49A7D-8FD9-436A-B77B-246CE5031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DA3BF173-E8FE-4201-89A7-ABF03E41DA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392253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7C773C5F-88DC-4BF1-8396-4EFD489005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371946F2-69AD-9138-F3F0-B3536E6177AC}"/>
              </a:ext>
            </a:extLst>
          </p:cNvPr>
          <p:cNvSpPr txBox="1"/>
          <p:nvPr/>
        </p:nvSpPr>
        <p:spPr>
          <a:xfrm>
            <a:off x="487455" y="4328671"/>
            <a:ext cx="801460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solidFill>
                  <a:schemeClr val="bg1"/>
                </a:solidFill>
              </a:rPr>
              <a:t>2011049 – Anabil Dey</a:t>
            </a:r>
          </a:p>
          <a:p>
            <a:r>
              <a:rPr lang="en-GB" dirty="0">
                <a:solidFill>
                  <a:schemeClr val="bg1"/>
                </a:solidFill>
              </a:rPr>
              <a:t>2011050 – Shadman Nahiyan</a:t>
            </a:r>
          </a:p>
          <a:p>
            <a:r>
              <a:rPr lang="en-GB" dirty="0">
                <a:solidFill>
                  <a:schemeClr val="bg1"/>
                </a:solidFill>
              </a:rPr>
              <a:t>2011051 – Farin Nowshin</a:t>
            </a:r>
          </a:p>
          <a:p>
            <a:r>
              <a:rPr lang="en-GB" dirty="0">
                <a:solidFill>
                  <a:schemeClr val="bg1"/>
                </a:solidFill>
              </a:rPr>
              <a:t>2011052 – Saiful </a:t>
            </a:r>
            <a:r>
              <a:rPr lang="en-GB">
                <a:solidFill>
                  <a:schemeClr val="bg1"/>
                </a:solidFill>
              </a:rPr>
              <a:t>Islam Nadim</a:t>
            </a:r>
            <a:endParaRPr lang="en-GB" dirty="0">
              <a:solidFill>
                <a:schemeClr val="bg1"/>
              </a:solidFill>
            </a:endParaRPr>
          </a:p>
          <a:p>
            <a:r>
              <a:rPr lang="en-GB" dirty="0">
                <a:solidFill>
                  <a:schemeClr val="bg1"/>
                </a:solidFill>
              </a:rPr>
              <a:t>2011053 -  Md. Atik Faisal</a:t>
            </a:r>
          </a:p>
          <a:p>
            <a:r>
              <a:rPr lang="en-GB" dirty="0">
                <a:solidFill>
                  <a:schemeClr val="bg1"/>
                </a:solidFill>
              </a:rPr>
              <a:t>2011054 -  Jihan Mahbub Khan</a:t>
            </a:r>
          </a:p>
        </p:txBody>
      </p:sp>
    </p:spTree>
    <p:extLst>
      <p:ext uri="{BB962C8B-B14F-4D97-AF65-F5344CB8AC3E}">
        <p14:creationId xmlns:p14="http://schemas.microsoft.com/office/powerpoint/2010/main" val="10985722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E53B713-A903-5C5E-B4CE-F76783CDCB4E}"/>
              </a:ext>
            </a:extLst>
          </p:cNvPr>
          <p:cNvSpPr>
            <a:spLocks noGrp="1"/>
          </p:cNvSpPr>
          <p:nvPr>
            <p:ph type="title"/>
          </p:nvPr>
        </p:nvSpPr>
        <p:spPr>
          <a:xfrm>
            <a:off x="482601" y="747763"/>
            <a:ext cx="5613398" cy="2929357"/>
          </a:xfrm>
        </p:spPr>
        <p:txBody>
          <a:bodyPr vert="horz" lIns="91440" tIns="45720" rIns="91440" bIns="45720" rtlCol="0" anchor="t">
            <a:normAutofit/>
          </a:bodyPr>
          <a:lstStyle/>
          <a:p>
            <a:pPr>
              <a:lnSpc>
                <a:spcPct val="90000"/>
              </a:lnSpc>
            </a:pPr>
            <a:r>
              <a:rPr lang="en-US" sz="2100" b="1"/>
              <a:t>1.</a:t>
            </a:r>
            <a:r>
              <a:rPr lang="en-US" sz="2100"/>
              <a:t> Two new Internet site projects are proposed to a young start-up company. Project A will cost $250,000 to implement and is expected to have annual net cash flows of $75,000. Project B will cost $150,000 to implement and should generate annual net cash flows of $52,000. The company is very concerned about their cash flow. Using the payback period, which project is better, from a cash flow standpoint?</a:t>
            </a:r>
          </a:p>
        </p:txBody>
      </p:sp>
      <p:cxnSp>
        <p:nvCxnSpPr>
          <p:cNvPr id="11" name="Straight Connector 10">
            <a:extLst>
              <a:ext uri="{FF2B5EF4-FFF2-40B4-BE49-F238E27FC236}">
                <a16:creationId xmlns:a16="http://schemas.microsoft.com/office/drawing/2014/main" id="{E0A47042-5817-48ED-8CFD-EB5E90286E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4"/>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1D56ED51-3D82-4EA1-B3E1-5E44FCC93B6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391545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DA2EDCE7-9A12-2307-BCB4-EA9C66D449FF}"/>
              </a:ext>
            </a:extLst>
          </p:cNvPr>
          <p:cNvSpPr txBox="1"/>
          <p:nvPr/>
        </p:nvSpPr>
        <p:spPr>
          <a:xfrm>
            <a:off x="6095999" y="4062154"/>
            <a:ext cx="5533671" cy="215928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r">
              <a:lnSpc>
                <a:spcPct val="90000"/>
              </a:lnSpc>
              <a:spcAft>
                <a:spcPts val="600"/>
              </a:spcAft>
              <a:buFont typeface="Arial" panose="020B0604020202020204" pitchFamily="34" charset="0"/>
            </a:pPr>
            <a:r>
              <a:rPr lang="en-US" sz="1900" b="1"/>
              <a:t>Answer:</a:t>
            </a:r>
          </a:p>
          <a:p>
            <a:pPr algn="r">
              <a:lnSpc>
                <a:spcPct val="90000"/>
              </a:lnSpc>
              <a:spcAft>
                <a:spcPts val="600"/>
              </a:spcAft>
              <a:buFont typeface="Arial" panose="020B0604020202020204" pitchFamily="34" charset="0"/>
            </a:pPr>
            <a:r>
              <a:rPr lang="en-US" sz="1900"/>
              <a:t>1) Project A: Payback Period = $250,000/$75,000 = 3.3 years. </a:t>
            </a:r>
            <a:endParaRPr lang="en-US" sz="1900" b="1"/>
          </a:p>
          <a:p>
            <a:pPr algn="r">
              <a:lnSpc>
                <a:spcPct val="90000"/>
              </a:lnSpc>
              <a:spcAft>
                <a:spcPts val="600"/>
              </a:spcAft>
              <a:buFont typeface="Arial" panose="020B0604020202020204" pitchFamily="34" charset="0"/>
            </a:pPr>
            <a:r>
              <a:rPr lang="en-US" sz="1900"/>
              <a:t>2) Project B: Payback Period = $150,000/$52,000 = 2.9 years </a:t>
            </a:r>
            <a:endParaRPr lang="en-US" sz="1900" b="1"/>
          </a:p>
          <a:p>
            <a:pPr algn="r">
              <a:lnSpc>
                <a:spcPct val="90000"/>
              </a:lnSpc>
              <a:spcAft>
                <a:spcPts val="600"/>
              </a:spcAft>
              <a:buFont typeface="Arial" panose="020B0604020202020204" pitchFamily="34" charset="0"/>
            </a:pPr>
            <a:r>
              <a:rPr lang="en-US" sz="1900"/>
              <a:t>Project B is better because it has a shorter payback period.</a:t>
            </a:r>
            <a:endParaRPr lang="en-US" sz="1900" b="1"/>
          </a:p>
        </p:txBody>
      </p:sp>
      <p:cxnSp>
        <p:nvCxnSpPr>
          <p:cNvPr id="15" name="Straight Connector 14">
            <a:extLst>
              <a:ext uri="{FF2B5EF4-FFF2-40B4-BE49-F238E27FC236}">
                <a16:creationId xmlns:a16="http://schemas.microsoft.com/office/drawing/2014/main" id="{6DC7C551-84BF-4E1B-B045-27A9E04A6F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22778261"/>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C84EE41-863A-4DE9-9A51-4F014D681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416" y="485369"/>
            <a:ext cx="11147071" cy="2460838"/>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F5BAD0-6CF0-6C58-1748-BD6D6E0E440D}"/>
              </a:ext>
            </a:extLst>
          </p:cNvPr>
          <p:cNvSpPr>
            <a:spLocks noGrp="1"/>
          </p:cNvSpPr>
          <p:nvPr>
            <p:ph type="title"/>
          </p:nvPr>
        </p:nvSpPr>
        <p:spPr>
          <a:xfrm>
            <a:off x="482601" y="976160"/>
            <a:ext cx="8411120" cy="1493871"/>
          </a:xfrm>
        </p:spPr>
        <p:txBody>
          <a:bodyPr vert="horz" lIns="91440" tIns="45720" rIns="91440" bIns="45720" rtlCol="0" anchor="ctr">
            <a:normAutofit/>
          </a:bodyPr>
          <a:lstStyle/>
          <a:p>
            <a:pPr>
              <a:lnSpc>
                <a:spcPct val="90000"/>
              </a:lnSpc>
            </a:pPr>
            <a:r>
              <a:rPr lang="en-US" sz="2300" b="1"/>
              <a:t>2.</a:t>
            </a:r>
            <a:r>
              <a:rPr lang="en-US" sz="2300"/>
              <a:t> Sean, a new graduate at a telecommunications fi rm, faces the following problem his first day at the fi rm: What is the average rate of return for a project that costs $200,000 to implement and has an average annual profit of $30,000?</a:t>
            </a:r>
          </a:p>
        </p:txBody>
      </p:sp>
      <p:cxnSp>
        <p:nvCxnSpPr>
          <p:cNvPr id="13" name="Straight Connector 12">
            <a:extLst>
              <a:ext uri="{FF2B5EF4-FFF2-40B4-BE49-F238E27FC236}">
                <a16:creationId xmlns:a16="http://schemas.microsoft.com/office/drawing/2014/main" id="{23135360-3A7F-436F-B1EA-3628A78B57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4"/>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08990BBA-8A0B-4EF5-A122-0815DEC194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BCE6272-FBF0-3EB6-FE80-3A0F9B13FED3}"/>
              </a:ext>
            </a:extLst>
          </p:cNvPr>
          <p:cNvSpPr txBox="1"/>
          <p:nvPr/>
        </p:nvSpPr>
        <p:spPr>
          <a:xfrm>
            <a:off x="482600" y="3408254"/>
            <a:ext cx="8411119" cy="2470031"/>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spcAft>
                <a:spcPts val="600"/>
              </a:spcAft>
              <a:buFont typeface="Arial" panose="020B0604020202020204" pitchFamily="34" charset="0"/>
            </a:pPr>
            <a:r>
              <a:rPr lang="en-US" sz="2000" b="1"/>
              <a:t>Answer:</a:t>
            </a:r>
          </a:p>
          <a:p>
            <a:pPr>
              <a:spcAft>
                <a:spcPts val="600"/>
              </a:spcAft>
              <a:buFont typeface="Arial" panose="020B0604020202020204" pitchFamily="34" charset="0"/>
            </a:pPr>
            <a:r>
              <a:rPr lang="en-US" sz="2000"/>
              <a:t>Payback period = $200,000 / $30,000 = 6.7 years </a:t>
            </a:r>
          </a:p>
          <a:p>
            <a:pPr>
              <a:spcAft>
                <a:spcPts val="600"/>
              </a:spcAft>
              <a:buFont typeface="Arial" panose="020B0604020202020204" pitchFamily="34" charset="0"/>
            </a:pPr>
            <a:r>
              <a:rPr lang="en-US" sz="2000"/>
              <a:t>Average rate of return = $30,000 / $200,000 = 15% </a:t>
            </a:r>
          </a:p>
        </p:txBody>
      </p:sp>
      <p:cxnSp>
        <p:nvCxnSpPr>
          <p:cNvPr id="17" name="Straight Connector 16">
            <a:extLst>
              <a:ext uri="{FF2B5EF4-FFF2-40B4-BE49-F238E27FC236}">
                <a16:creationId xmlns:a16="http://schemas.microsoft.com/office/drawing/2014/main" id="{38045D80-B59B-4760-8DF9-AECD53044D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98598607"/>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BCD729-2554-9403-36C3-918F2C7053BD}"/>
              </a:ext>
            </a:extLst>
          </p:cNvPr>
          <p:cNvSpPr>
            <a:spLocks noGrp="1"/>
          </p:cNvSpPr>
          <p:nvPr>
            <p:ph type="title"/>
          </p:nvPr>
        </p:nvSpPr>
        <p:spPr>
          <a:xfrm>
            <a:off x="482601" y="976152"/>
            <a:ext cx="5613399" cy="1772513"/>
          </a:xfrm>
        </p:spPr>
        <p:txBody>
          <a:bodyPr anchor="ctr">
            <a:normAutofit/>
          </a:bodyPr>
          <a:lstStyle/>
          <a:p>
            <a:pPr>
              <a:lnSpc>
                <a:spcPct val="90000"/>
              </a:lnSpc>
            </a:pPr>
            <a:r>
              <a:rPr lang="en-GB" sz="1800" b="1" dirty="0">
                <a:ea typeface="+mj-lt"/>
                <a:cs typeface="+mj-lt"/>
              </a:rPr>
              <a:t>3. </a:t>
            </a:r>
            <a:r>
              <a:rPr lang="en-GB" sz="1800" dirty="0">
                <a:ea typeface="+mj-lt"/>
                <a:cs typeface="+mj-lt"/>
              </a:rPr>
              <a:t>A four-year financial project has net cash flows of $20,000; $25,000; $30,000; and $50,000 in the next four years. It will cost $75,000 to implement the project. If the required rate of return is 0.2, conduct a discounted cash flow calculation to determine the NPV.</a:t>
            </a:r>
            <a:endParaRPr lang="en-US" sz="1800" dirty="0"/>
          </a:p>
        </p:txBody>
      </p:sp>
      <p:cxnSp>
        <p:nvCxnSpPr>
          <p:cNvPr id="11" name="Straight Connector 10">
            <a:extLst>
              <a:ext uri="{FF2B5EF4-FFF2-40B4-BE49-F238E27FC236}">
                <a16:creationId xmlns:a16="http://schemas.microsoft.com/office/drawing/2014/main" id="{F00AD4F8-E8E5-4783-B7A9-DBB6EF2611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4105C5B1-BB24-4A5C-87B3-3B75CD2594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2940693"/>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4" name="Picture 4" descr="Table&#10;&#10;Description automatically generated">
            <a:extLst>
              <a:ext uri="{FF2B5EF4-FFF2-40B4-BE49-F238E27FC236}">
                <a16:creationId xmlns:a16="http://schemas.microsoft.com/office/drawing/2014/main" id="{0882F2CC-EC37-F13F-1D09-9C0F3DEA616A}"/>
              </a:ext>
            </a:extLst>
          </p:cNvPr>
          <p:cNvPicPr>
            <a:picLocks noChangeAspect="1"/>
          </p:cNvPicPr>
          <p:nvPr/>
        </p:nvPicPr>
        <p:blipFill>
          <a:blip r:embed="rId2">
            <a:alphaModFix/>
          </a:blip>
          <a:stretch>
            <a:fillRect/>
          </a:stretch>
        </p:blipFill>
        <p:spPr>
          <a:xfrm>
            <a:off x="481803" y="3557996"/>
            <a:ext cx="11147071" cy="2758898"/>
          </a:xfrm>
          <a:prstGeom prst="rect">
            <a:avLst/>
          </a:prstGeom>
        </p:spPr>
      </p:pic>
      <p:cxnSp>
        <p:nvCxnSpPr>
          <p:cNvPr id="15" name="Straight Connector 14">
            <a:extLst>
              <a:ext uri="{FF2B5EF4-FFF2-40B4-BE49-F238E27FC236}">
                <a16:creationId xmlns:a16="http://schemas.microsoft.com/office/drawing/2014/main" id="{30B47AB4-2CE5-448F-8623-C07F28D2C9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712EA37B-8E39-B30D-F4CA-218DA8419E21}"/>
              </a:ext>
            </a:extLst>
          </p:cNvPr>
          <p:cNvSpPr txBox="1"/>
          <p:nvPr/>
        </p:nvSpPr>
        <p:spPr>
          <a:xfrm>
            <a:off x="680356" y="3007178"/>
            <a:ext cx="21091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t>Answer:</a:t>
            </a:r>
          </a:p>
        </p:txBody>
      </p:sp>
    </p:spTree>
    <p:extLst>
      <p:ext uri="{BB962C8B-B14F-4D97-AF65-F5344CB8AC3E}">
        <p14:creationId xmlns:p14="http://schemas.microsoft.com/office/powerpoint/2010/main" val="2067521072"/>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12927E5-081D-440D-A775-C0AE9DA1E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07" y="489855"/>
            <a:ext cx="11147071" cy="2449283"/>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D715D1-93F1-4B13-0B8F-2FF4E678A62B}"/>
              </a:ext>
            </a:extLst>
          </p:cNvPr>
          <p:cNvSpPr>
            <a:spLocks noGrp="1"/>
          </p:cNvSpPr>
          <p:nvPr>
            <p:ph type="title"/>
          </p:nvPr>
        </p:nvSpPr>
        <p:spPr>
          <a:xfrm>
            <a:off x="482601" y="721946"/>
            <a:ext cx="10813250" cy="1971976"/>
          </a:xfrm>
        </p:spPr>
        <p:txBody>
          <a:bodyPr>
            <a:normAutofit/>
          </a:bodyPr>
          <a:lstStyle/>
          <a:p>
            <a:pPr>
              <a:lnSpc>
                <a:spcPct val="90000"/>
              </a:lnSpc>
            </a:pPr>
            <a:r>
              <a:rPr lang="en-GB" sz="1700" b="1" dirty="0">
                <a:ea typeface="+mj-lt"/>
                <a:cs typeface="+mj-lt"/>
              </a:rPr>
              <a:t>4. </a:t>
            </a:r>
            <a:r>
              <a:rPr lang="en-GB" sz="1800" dirty="0">
                <a:ea typeface="+mj-lt"/>
                <a:cs typeface="+mj-lt"/>
              </a:rPr>
              <a:t>A four-year financial project has estimates of net cash flows shown in the following table: Year Pessimistic Most Likely Optimistic 1 $14,000 $20,000 $22,000 2 19,000 25,000 30,000 3 27,000 30,000 36,000 4 32,000 35,000 39,000 It will cost $65,000 to implement the project, all of which must be invested at the beginning of the project. After the fourth year, the project will have no residual value. Using the most likely estimates of cash flows, conduct a discounted cash flow calculation assuming a 20 percent hurdle rate with no inflation. (You may use either Excel® or a paper-and-pencil calculation.) What is the discounted profitability index of the project?</a:t>
            </a:r>
            <a:endParaRPr lang="en-US" sz="1800"/>
          </a:p>
        </p:txBody>
      </p:sp>
      <p:cxnSp>
        <p:nvCxnSpPr>
          <p:cNvPr id="13" name="Straight Connector 12">
            <a:extLst>
              <a:ext uri="{FF2B5EF4-FFF2-40B4-BE49-F238E27FC236}">
                <a16:creationId xmlns:a16="http://schemas.microsoft.com/office/drawing/2014/main" id="{36EF3C03-9B4D-45EB-B96C-994DBE3FEA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C4558310-C928-4426-BFAC-68450D291D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2939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 name="Content Placeholder 2">
            <a:extLst>
              <a:ext uri="{FF2B5EF4-FFF2-40B4-BE49-F238E27FC236}">
                <a16:creationId xmlns:a16="http://schemas.microsoft.com/office/drawing/2014/main" id="{36DEF018-4F90-6E60-0038-FF16360D5A50}"/>
              </a:ext>
            </a:extLst>
          </p:cNvPr>
          <p:cNvSpPr>
            <a:spLocks noGrp="1"/>
          </p:cNvSpPr>
          <p:nvPr>
            <p:ph idx="1"/>
          </p:nvPr>
        </p:nvSpPr>
        <p:spPr>
          <a:xfrm>
            <a:off x="482601" y="3282330"/>
            <a:ext cx="5189963" cy="2800893"/>
          </a:xfrm>
        </p:spPr>
        <p:txBody>
          <a:bodyPr vert="horz" lIns="91440" tIns="45720" rIns="91440" bIns="45720" rtlCol="0" anchor="ctr">
            <a:normAutofit/>
          </a:bodyPr>
          <a:lstStyle/>
          <a:p>
            <a:r>
              <a:rPr lang="en-GB" sz="2000" b="1"/>
              <a:t>Answer:</a:t>
            </a:r>
          </a:p>
        </p:txBody>
      </p:sp>
      <p:pic>
        <p:nvPicPr>
          <p:cNvPr id="4" name="Picture 4" descr="Table&#10;&#10;Description automatically generated">
            <a:extLst>
              <a:ext uri="{FF2B5EF4-FFF2-40B4-BE49-F238E27FC236}">
                <a16:creationId xmlns:a16="http://schemas.microsoft.com/office/drawing/2014/main" id="{CC677B2A-53AC-A765-FB16-E78199F2CA2B}"/>
              </a:ext>
            </a:extLst>
          </p:cNvPr>
          <p:cNvPicPr>
            <a:picLocks noChangeAspect="1"/>
          </p:cNvPicPr>
          <p:nvPr/>
        </p:nvPicPr>
        <p:blipFill>
          <a:blip r:embed="rId2">
            <a:alphaModFix/>
          </a:blip>
          <a:stretch>
            <a:fillRect/>
          </a:stretch>
        </p:blipFill>
        <p:spPr>
          <a:xfrm>
            <a:off x="5127172" y="3369075"/>
            <a:ext cx="6502499" cy="2383098"/>
          </a:xfrm>
          <a:prstGeom prst="rect">
            <a:avLst/>
          </a:prstGeom>
        </p:spPr>
      </p:pic>
      <p:cxnSp>
        <p:nvCxnSpPr>
          <p:cNvPr id="17" name="Straight Connector 16">
            <a:extLst>
              <a:ext uri="{FF2B5EF4-FFF2-40B4-BE49-F238E27FC236}">
                <a16:creationId xmlns:a16="http://schemas.microsoft.com/office/drawing/2014/main" id="{49EA91AC-9CE2-4425-BF6B-E2FCBA1A75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0367884"/>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37A9FC-66C9-A427-A366-F49FEA6F7974}"/>
              </a:ext>
            </a:extLst>
          </p:cNvPr>
          <p:cNvSpPr>
            <a:spLocks noGrp="1"/>
          </p:cNvSpPr>
          <p:nvPr>
            <p:ph idx="1"/>
          </p:nvPr>
        </p:nvSpPr>
        <p:spPr>
          <a:xfrm>
            <a:off x="482600" y="868470"/>
            <a:ext cx="10506991" cy="5011121"/>
          </a:xfrm>
        </p:spPr>
        <p:txBody>
          <a:bodyPr vert="horz" lIns="91440" tIns="45720" rIns="91440" bIns="45720" rtlCol="0" anchor="t">
            <a:normAutofit/>
          </a:bodyPr>
          <a:lstStyle/>
          <a:p>
            <a:r>
              <a:rPr lang="en-GB" dirty="0">
                <a:ea typeface="+mn-lt"/>
                <a:cs typeface="+mn-lt"/>
              </a:rPr>
              <a:t>The column labelled “Used” indicates the cash flow value used to calculate the net present value. </a:t>
            </a:r>
            <a:endParaRPr lang="en-US" dirty="0">
              <a:ea typeface="+mn-lt"/>
              <a:cs typeface="+mn-lt"/>
            </a:endParaRPr>
          </a:p>
          <a:p>
            <a:r>
              <a:rPr lang="en-GB" dirty="0">
                <a:ea typeface="+mn-lt"/>
                <a:cs typeface="+mn-lt"/>
              </a:rPr>
              <a:t>The profitability index is the sum of the discounted cash flows divided by the initial investment.</a:t>
            </a:r>
            <a:endParaRPr lang="en-US" dirty="0">
              <a:ea typeface="+mn-lt"/>
              <a:cs typeface="+mn-lt"/>
            </a:endParaRPr>
          </a:p>
          <a:p>
            <a:r>
              <a:rPr lang="en-GB" dirty="0">
                <a:ea typeface="+mn-lt"/>
                <a:cs typeface="+mn-lt"/>
              </a:rPr>
              <a:t> For this problem it is the sum of the PV’s for years 1-4 divided by $65,000 </a:t>
            </a:r>
            <a:endParaRPr lang="en-US">
              <a:ea typeface="+mn-lt"/>
              <a:cs typeface="+mn-lt"/>
            </a:endParaRPr>
          </a:p>
          <a:p>
            <a:r>
              <a:rPr lang="en-GB" dirty="0">
                <a:ea typeface="+mn-lt"/>
                <a:cs typeface="+mn-lt"/>
              </a:rPr>
              <a:t>                                                                  or: </a:t>
            </a:r>
            <a:endParaRPr lang="en-US" dirty="0">
              <a:ea typeface="+mn-lt"/>
              <a:cs typeface="+mn-lt"/>
            </a:endParaRPr>
          </a:p>
          <a:p>
            <a:r>
              <a:rPr lang="en-GB" dirty="0">
                <a:ea typeface="+mn-lt"/>
                <a:cs typeface="+mn-lt"/>
              </a:rPr>
              <a:t>                                                  68,268/65,000 = 1.05 </a:t>
            </a:r>
            <a:endParaRPr lang="en-US" dirty="0">
              <a:ea typeface="+mn-lt"/>
              <a:cs typeface="+mn-lt"/>
            </a:endParaRPr>
          </a:p>
          <a:p>
            <a:r>
              <a:rPr lang="en-GB" dirty="0">
                <a:ea typeface="+mn-lt"/>
                <a:cs typeface="+mn-lt"/>
              </a:rPr>
              <a:t>Since the value is greater than one, the project should be accepted (assuming everything else is equal).</a:t>
            </a:r>
            <a:endParaRPr lang="en-US"/>
          </a:p>
        </p:txBody>
      </p:sp>
    </p:spTree>
    <p:extLst>
      <p:ext uri="{BB962C8B-B14F-4D97-AF65-F5344CB8AC3E}">
        <p14:creationId xmlns:p14="http://schemas.microsoft.com/office/powerpoint/2010/main" val="2109063535"/>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9BD148E7-1EDB-4129-A130-04858F7014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0" y="489855"/>
            <a:ext cx="11147071" cy="585126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1">
            <a:extLst>
              <a:ext uri="{FF2B5EF4-FFF2-40B4-BE49-F238E27FC236}">
                <a16:creationId xmlns:a16="http://schemas.microsoft.com/office/drawing/2014/main" id="{8E1E68C9-4F6E-4640-AE06-FCA671F7D5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4"/>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 name="Content Placeholder 2">
            <a:extLst>
              <a:ext uri="{FF2B5EF4-FFF2-40B4-BE49-F238E27FC236}">
                <a16:creationId xmlns:a16="http://schemas.microsoft.com/office/drawing/2014/main" id="{F2790601-C520-B05A-6EA6-D49AAF2376E7}"/>
              </a:ext>
            </a:extLst>
          </p:cNvPr>
          <p:cNvSpPr>
            <a:spLocks noGrp="1"/>
          </p:cNvSpPr>
          <p:nvPr>
            <p:ph idx="1"/>
          </p:nvPr>
        </p:nvSpPr>
        <p:spPr>
          <a:xfrm>
            <a:off x="630916" y="976160"/>
            <a:ext cx="10807297" cy="4902125"/>
          </a:xfrm>
        </p:spPr>
        <p:txBody>
          <a:bodyPr vert="horz" lIns="91440" tIns="45720" rIns="91440" bIns="45720" rtlCol="0" anchor="ctr">
            <a:normAutofit/>
          </a:bodyPr>
          <a:lstStyle/>
          <a:p>
            <a:pPr>
              <a:lnSpc>
                <a:spcPct val="90000"/>
              </a:lnSpc>
            </a:pPr>
            <a:r>
              <a:rPr lang="en-GB" sz="2000" b="1" dirty="0">
                <a:ea typeface="+mn-lt"/>
                <a:cs typeface="+mn-lt"/>
              </a:rPr>
              <a:t>5</a:t>
            </a:r>
            <a:r>
              <a:rPr lang="en-GB" sz="2000" dirty="0">
                <a:ea typeface="+mn-lt"/>
                <a:cs typeface="+mn-lt"/>
              </a:rPr>
              <a:t>. Nina is trying to decide in which of four shopping centres to locate her new boutique. Some locations attract a higher class of clientele than others, some are in an indoor mall, some have a much greater customer traffic volume than others, and, of course, rent varies considerably from one location to another. Because of the nature of her store, she has decided that the class of clientele is the most important consideration, the higher the better. Following this, however, she must pay attention to her expenses and rent is a major item, probably 90 percent as important as clientele. An indoor, temperature-controlled mall is a big help, however, for stores such as hers where 70 percent of sales are from passer-by slowly strolling and window shopping. Thus, she rates this as about 95 percent as important as rent. Last, a higher traffic volume of shoppers means more potential sales; she thus rates this factor as 80 percent as important as rent. As an aid in visualizing her location alternatives, she has constructed the following table. A “good” is scored as 3, “fair” as 2, and “poor” as 1. Use a weighted score model to help Nina come to a decision.</a:t>
            </a:r>
            <a:endParaRPr lang="en-US" sz="2000"/>
          </a:p>
        </p:txBody>
      </p:sp>
      <p:cxnSp>
        <p:nvCxnSpPr>
          <p:cNvPr id="19" name="Straight Connector 13">
            <a:extLst>
              <a:ext uri="{FF2B5EF4-FFF2-40B4-BE49-F238E27FC236}">
                <a16:creationId xmlns:a16="http://schemas.microsoft.com/office/drawing/2014/main" id="{8DF3F0BE-4FF5-481A-9206-F765D61B5F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26338946"/>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12927E5-081D-440D-A775-C0AE9DA1E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07" y="489855"/>
            <a:ext cx="11147071" cy="2449283"/>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36EF3C03-9B4D-45EB-B96C-994DBE3FEA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4558310-C928-4426-BFAC-68450D291D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2939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4" name="Picture 4" descr="Table&#10;&#10;Description automatically generated">
            <a:extLst>
              <a:ext uri="{FF2B5EF4-FFF2-40B4-BE49-F238E27FC236}">
                <a16:creationId xmlns:a16="http://schemas.microsoft.com/office/drawing/2014/main" id="{F83228EC-C1CE-0B26-FDC5-B20442B38793}"/>
              </a:ext>
            </a:extLst>
          </p:cNvPr>
          <p:cNvPicPr>
            <a:picLocks noChangeAspect="1"/>
          </p:cNvPicPr>
          <p:nvPr/>
        </p:nvPicPr>
        <p:blipFill>
          <a:blip r:embed="rId2">
            <a:alphaModFix/>
          </a:blip>
          <a:stretch>
            <a:fillRect/>
          </a:stretch>
        </p:blipFill>
        <p:spPr>
          <a:xfrm>
            <a:off x="3048000" y="714875"/>
            <a:ext cx="5533671" cy="1998268"/>
          </a:xfrm>
          <a:prstGeom prst="rect">
            <a:avLst/>
          </a:prstGeom>
        </p:spPr>
      </p:pic>
      <p:cxnSp>
        <p:nvCxnSpPr>
          <p:cNvPr id="19" name="Straight Connector 18">
            <a:extLst>
              <a:ext uri="{FF2B5EF4-FFF2-40B4-BE49-F238E27FC236}">
                <a16:creationId xmlns:a16="http://schemas.microsoft.com/office/drawing/2014/main" id="{49EA91AC-9CE2-4425-BF6B-E2FCBA1A75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6" name="Picture 6" descr="Table&#10;&#10;Description automatically generated">
            <a:extLst>
              <a:ext uri="{FF2B5EF4-FFF2-40B4-BE49-F238E27FC236}">
                <a16:creationId xmlns:a16="http://schemas.microsoft.com/office/drawing/2014/main" id="{D1C69633-8B26-4187-A0E3-6CCB0C33FB5F}"/>
              </a:ext>
            </a:extLst>
          </p:cNvPr>
          <p:cNvPicPr>
            <a:picLocks noChangeAspect="1"/>
          </p:cNvPicPr>
          <p:nvPr/>
        </p:nvPicPr>
        <p:blipFill>
          <a:blip r:embed="rId3"/>
          <a:stretch>
            <a:fillRect/>
          </a:stretch>
        </p:blipFill>
        <p:spPr>
          <a:xfrm>
            <a:off x="2503714" y="3247746"/>
            <a:ext cx="6879771" cy="2887994"/>
          </a:xfrm>
          <a:prstGeom prst="rect">
            <a:avLst/>
          </a:prstGeom>
        </p:spPr>
      </p:pic>
      <p:sp>
        <p:nvSpPr>
          <p:cNvPr id="7" name="TextBox 6">
            <a:extLst>
              <a:ext uri="{FF2B5EF4-FFF2-40B4-BE49-F238E27FC236}">
                <a16:creationId xmlns:a16="http://schemas.microsoft.com/office/drawing/2014/main" id="{36658FD7-2578-BFA5-F97C-AAA85C1A72CD}"/>
              </a:ext>
            </a:extLst>
          </p:cNvPr>
          <p:cNvSpPr txBox="1"/>
          <p:nvPr/>
        </p:nvSpPr>
        <p:spPr>
          <a:xfrm>
            <a:off x="789213" y="3211285"/>
            <a:ext cx="14423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t>Answer:</a:t>
            </a:r>
          </a:p>
        </p:txBody>
      </p:sp>
    </p:spTree>
    <p:extLst>
      <p:ext uri="{BB962C8B-B14F-4D97-AF65-F5344CB8AC3E}">
        <p14:creationId xmlns:p14="http://schemas.microsoft.com/office/powerpoint/2010/main" val="3090397549"/>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C84EE41-863A-4DE9-9A51-4F014D681F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416" y="485369"/>
            <a:ext cx="11147071" cy="2460838"/>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23135360-3A7F-436F-B1EA-3628A78B57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4"/>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8990BBA-8A0B-4EF5-A122-0815DEC194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 name="Content Placeholder 2">
            <a:extLst>
              <a:ext uri="{FF2B5EF4-FFF2-40B4-BE49-F238E27FC236}">
                <a16:creationId xmlns:a16="http://schemas.microsoft.com/office/drawing/2014/main" id="{36746F66-BD12-B4BD-6964-A60B16724C2D}"/>
              </a:ext>
            </a:extLst>
          </p:cNvPr>
          <p:cNvSpPr>
            <a:spLocks noGrp="1"/>
          </p:cNvSpPr>
          <p:nvPr>
            <p:ph idx="1"/>
          </p:nvPr>
        </p:nvSpPr>
        <p:spPr>
          <a:xfrm>
            <a:off x="482600" y="958968"/>
            <a:ext cx="8411119" cy="2470031"/>
          </a:xfrm>
        </p:spPr>
        <p:txBody>
          <a:bodyPr vert="horz" lIns="91440" tIns="45720" rIns="91440" bIns="45720" rtlCol="0">
            <a:normAutofit/>
          </a:bodyPr>
          <a:lstStyle/>
          <a:p>
            <a:r>
              <a:rPr lang="en-GB" sz="2000" b="1">
                <a:ea typeface="+mn-lt"/>
                <a:cs typeface="+mn-lt"/>
              </a:rPr>
              <a:t>6. </a:t>
            </a:r>
            <a:r>
              <a:rPr lang="en-GB" sz="2000">
                <a:ea typeface="+mn-lt"/>
                <a:cs typeface="+mn-lt"/>
              </a:rPr>
              <a:t>Referring to previous problem, develop a spreadsheet to help Nina select a location for her boutique. Suppose Nina is able to negotiate a lower rent at location 3 and thus raise its ranking to “good.” How does this affect the overall rankings of the four locations?</a:t>
            </a:r>
            <a:endParaRPr lang="en-US" sz="2000"/>
          </a:p>
        </p:txBody>
      </p:sp>
      <p:cxnSp>
        <p:nvCxnSpPr>
          <p:cNvPr id="16" name="Straight Connector 15">
            <a:extLst>
              <a:ext uri="{FF2B5EF4-FFF2-40B4-BE49-F238E27FC236}">
                <a16:creationId xmlns:a16="http://schemas.microsoft.com/office/drawing/2014/main" id="{38045D80-B59B-4760-8DF9-AECD53044D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9AD29605-7083-8EB2-36F4-AAAABDB56C40}"/>
              </a:ext>
            </a:extLst>
          </p:cNvPr>
          <p:cNvSpPr txBox="1"/>
          <p:nvPr/>
        </p:nvSpPr>
        <p:spPr>
          <a:xfrm>
            <a:off x="566057" y="3211286"/>
            <a:ext cx="426992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t>Answer:</a:t>
            </a:r>
          </a:p>
          <a:p>
            <a:r>
              <a:rPr lang="en-GB" dirty="0">
                <a:ea typeface="+mn-lt"/>
                <a:cs typeface="+mn-lt"/>
              </a:rPr>
              <a:t>Changing the grade for Location 3’s rent to '3':</a:t>
            </a:r>
            <a:endParaRPr lang="en-GB" dirty="0"/>
          </a:p>
        </p:txBody>
      </p:sp>
      <p:pic>
        <p:nvPicPr>
          <p:cNvPr id="9" name="Picture 10">
            <a:extLst>
              <a:ext uri="{FF2B5EF4-FFF2-40B4-BE49-F238E27FC236}">
                <a16:creationId xmlns:a16="http://schemas.microsoft.com/office/drawing/2014/main" id="{4A6396B8-38E8-4C6B-0A4E-28C8024D89A5}"/>
              </a:ext>
            </a:extLst>
          </p:cNvPr>
          <p:cNvPicPr>
            <a:picLocks noChangeAspect="1"/>
          </p:cNvPicPr>
          <p:nvPr/>
        </p:nvPicPr>
        <p:blipFill>
          <a:blip r:embed="rId2"/>
          <a:stretch>
            <a:fillRect/>
          </a:stretch>
        </p:blipFill>
        <p:spPr>
          <a:xfrm>
            <a:off x="5029201" y="3370521"/>
            <a:ext cx="6596742" cy="2304986"/>
          </a:xfrm>
          <a:prstGeom prst="rect">
            <a:avLst/>
          </a:prstGeom>
        </p:spPr>
      </p:pic>
      <p:sp>
        <p:nvSpPr>
          <p:cNvPr id="11" name="TextBox 10">
            <a:extLst>
              <a:ext uri="{FF2B5EF4-FFF2-40B4-BE49-F238E27FC236}">
                <a16:creationId xmlns:a16="http://schemas.microsoft.com/office/drawing/2014/main" id="{6B3CB8C2-BD89-3010-6EF6-56ED752EBEC2}"/>
              </a:ext>
            </a:extLst>
          </p:cNvPr>
          <p:cNvSpPr txBox="1"/>
          <p:nvPr/>
        </p:nvSpPr>
        <p:spPr>
          <a:xfrm>
            <a:off x="566057" y="4928506"/>
            <a:ext cx="439510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mn-lt"/>
                <a:cs typeface="+mn-lt"/>
              </a:rPr>
              <a:t>Due to the rent change, Location 3 moves up from last place to second place based upon the grades assigned to the evaluated categories. </a:t>
            </a:r>
            <a:endParaRPr lang="en-US" dirty="0"/>
          </a:p>
        </p:txBody>
      </p:sp>
    </p:spTree>
    <p:extLst>
      <p:ext uri="{BB962C8B-B14F-4D97-AF65-F5344CB8AC3E}">
        <p14:creationId xmlns:p14="http://schemas.microsoft.com/office/powerpoint/2010/main" val="1367748613"/>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8B7ED41-F3D7-4286-AD0B-B4A216D7E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3409" y="489853"/>
            <a:ext cx="6186871" cy="5858102"/>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14F7EC0-B8AC-4E93-A415-71AF71B12A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4"/>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 name="Content Placeholder 2">
            <a:extLst>
              <a:ext uri="{FF2B5EF4-FFF2-40B4-BE49-F238E27FC236}">
                <a16:creationId xmlns:a16="http://schemas.microsoft.com/office/drawing/2014/main" id="{0E8A7927-2681-16B6-8A49-DB500B395C7E}"/>
              </a:ext>
            </a:extLst>
          </p:cNvPr>
          <p:cNvSpPr>
            <a:spLocks noGrp="1"/>
          </p:cNvSpPr>
          <p:nvPr>
            <p:ph idx="1"/>
          </p:nvPr>
        </p:nvSpPr>
        <p:spPr>
          <a:xfrm>
            <a:off x="6997624" y="976158"/>
            <a:ext cx="4440589" cy="5024931"/>
          </a:xfrm>
        </p:spPr>
        <p:txBody>
          <a:bodyPr vert="horz" lIns="91440" tIns="45720" rIns="91440" bIns="45720" rtlCol="0" anchor="ctr">
            <a:normAutofit/>
          </a:bodyPr>
          <a:lstStyle/>
          <a:p>
            <a:r>
              <a:rPr lang="en-GB" sz="4000" i="1" dirty="0"/>
              <a:t>Thank You</a:t>
            </a:r>
          </a:p>
        </p:txBody>
      </p:sp>
      <p:cxnSp>
        <p:nvCxnSpPr>
          <p:cNvPr id="14" name="Straight Connector 13">
            <a:extLst>
              <a:ext uri="{FF2B5EF4-FFF2-40B4-BE49-F238E27FC236}">
                <a16:creationId xmlns:a16="http://schemas.microsoft.com/office/drawing/2014/main" id="{A6F0AD64-835F-42E2-B4C7-47A77348AB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50815022"/>
      </p:ext>
    </p:extLst>
  </p:cSld>
  <p:clrMapOvr>
    <a:masterClrMapping/>
  </p:clrMapOvr>
  <p:transition spd="med">
    <p:pull/>
  </p:transition>
</p:sld>
</file>

<file path=ppt/theme/theme1.xml><?xml version="1.0" encoding="utf-8"?>
<a:theme xmlns:a="http://schemas.openxmlformats.org/drawingml/2006/main" name="LevelVTI">
  <a:themeElements>
    <a:clrScheme name="AnalogousFromRegularSeedRightStep">
      <a:dk1>
        <a:srgbClr val="000000"/>
      </a:dk1>
      <a:lt1>
        <a:srgbClr val="FFFFFF"/>
      </a:lt1>
      <a:dk2>
        <a:srgbClr val="413224"/>
      </a:dk2>
      <a:lt2>
        <a:srgbClr val="E2E8E6"/>
      </a:lt2>
      <a:accent1>
        <a:srgbClr val="C34D75"/>
      </a:accent1>
      <a:accent2>
        <a:srgbClr val="B1433B"/>
      </a:accent2>
      <a:accent3>
        <a:srgbClr val="C3874D"/>
      </a:accent3>
      <a:accent4>
        <a:srgbClr val="B1A63B"/>
      </a:accent4>
      <a:accent5>
        <a:srgbClr val="8DAF45"/>
      </a:accent5>
      <a:accent6>
        <a:srgbClr val="5AB13B"/>
      </a:accent6>
      <a:hlink>
        <a:srgbClr val="319472"/>
      </a:hlink>
      <a:folHlink>
        <a:srgbClr val="7F7F7F"/>
      </a:folHlink>
    </a:clrScheme>
    <a:fontScheme name="Seaford">
      <a:majorFont>
        <a:latin typeface="Seaford"/>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velVTI" id="{64F43929-0387-4D33-907F-72B939BCAF99}" vid="{D804DF84-3298-4A39-BA0E-21F83D68BC2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842</Words>
  <Application>Microsoft Office PowerPoint</Application>
  <PresentationFormat>Widescreen</PresentationFormat>
  <Paragraphs>33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 Light</vt:lpstr>
      <vt:lpstr>Seaford</vt:lpstr>
      <vt:lpstr>LevelVTI</vt:lpstr>
      <vt:lpstr>Presentation on Strategic Management and Project Selection </vt:lpstr>
      <vt:lpstr>1. Two new Internet site projects are proposed to a young start-up company. Project A will cost $250,000 to implement and is expected to have annual net cash flows of $75,000. Project B will cost $150,000 to implement and should generate annual net cash flows of $52,000. The company is very concerned about their cash flow. Using the payback period, which project is better, from a cash flow standpoint?</vt:lpstr>
      <vt:lpstr>2. Sean, a new graduate at a telecommunications fi rm, faces the following problem his first day at the fi rm: What is the average rate of return for a project that costs $200,000 to implement and has an average annual profit of $30,000?</vt:lpstr>
      <vt:lpstr>3. A four-year financial project has net cash flows of $20,000; $25,000; $30,000; and $50,000 in the next four years. It will cost $75,000 to implement the project. If the required rate of return is 0.2, conduct a discounted cash flow calculation to determine the NPV.</vt:lpstr>
      <vt:lpstr>4. A four-year financial project has estimates of net cash flows shown in the following table: Year Pessimistic Most Likely Optimistic 1 $14,000 $20,000 $22,000 2 19,000 25,000 30,000 3 27,000 30,000 36,000 4 32,000 35,000 39,000 It will cost $65,000 to implement the project, all of which must be invested at the beginning of the project. After the fourth year, the project will have no residual value. Using the most likely estimates of cash flows, conduct a discounted cash flow calculation assuming a 20 percent hurdle rate with no inflation. (You may use either Excel® or a paper-and-pencil calculation.) What is the discounted profitability index of the project?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2010104 - Md. Amanullah Asif</cp:lastModifiedBy>
  <cp:revision>241</cp:revision>
  <dcterms:created xsi:type="dcterms:W3CDTF">2023-01-16T06:56:59Z</dcterms:created>
  <dcterms:modified xsi:type="dcterms:W3CDTF">2025-11-12T04:07:49Z</dcterms:modified>
</cp:coreProperties>
</file>